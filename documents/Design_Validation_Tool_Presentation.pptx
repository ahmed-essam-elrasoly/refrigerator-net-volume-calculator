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libri"/>
              </a:rPr>
              <a:t>Tool vs. Lab-Measured Result — Deviation by Model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Deviation vs. lab test (%)</c:v>
                </c:pt>
              </c:strCache>
            </c:strRef>
          </c:tx>
          <c:spPr>
            <a:solidFill>
              <a:srgbClr val="2FA6A2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Model A</c:v>
                  </c:pt>
                  <c:pt idx="1">
                    <c:v>Model B</c:v>
                  </c:pt>
                  <c:pt idx="2">
                    <c:v>Model C</c:v>
                  </c:pt>
                  <c:pt idx="3">
                    <c:v>Model 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1.4</c:v>
                </c:pt>
                <c:pt idx="1">
                  <c:v>2.6</c:v>
                </c:pt>
                <c:pt idx="2">
                  <c:v>1.1</c:v>
                </c:pt>
                <c:pt idx="3">
                  <c:v>2.2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6DAE5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AED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plainly: this is not a pitch for a new idea, it's a status report on something already built and already checked. Set the tone immediately — you're here to show evidence, not to sell enthusiasm.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isn't about skipping the lab — certification testing still happens regardless. The problem is that before this tool, the lab was often the first place a design flaw showed up. Frame the tool as closing that visibility gap, not replacing compliance testing.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 ahead of the 'solo build' concern right here, early, before it becomes an unspoken doubt. The credibility isn't in headcount — it's in the fact that three separate senior engineers checked this independently.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point of this slide is methodology, not just a claim of 'validated.' Hani checked it against real measured results; Elhady checked it against the IEC standard itself. That's two different, complementary forms of proof, from the people who lead this area.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strongest evidence in the whole deck — lead with it if there's any pushback earlier. This is not an internal benchmark we graded ourselves — it's measured against independent lab test data, using an established industry standard (SHARP methodology). 1 to 3 percent deviation across four different models is a tight, defensible margin.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Careful with the framing here: this is not 'we do the same thing faster.' Before this, there was no in-house way to model inverter-compressor behavior at all — it depended on manual spreadsheet fitting done ad hoc. That's a capability gap closed, not just an efficiency 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Actually run this live rather than describe it. Use one of the 4 ELaraby reference models so the comparison number on screen is the same number already cited on the evidence slide — that repetition reinforces credibility rather than introducing a new, unverified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important slide for credibility. Do not invent a time-savings number. State plainly what's proven (accuracy, standards compliance, capability) and name directly what isn't measured yet (design-cycle hours), with a concrete proposal to measure it. A skeptical manager trusts an honest gap far more than an unquantified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Naming the bus-factor risk yourself, before he asks, is what converts it from a red flag into evidence of rigor. Do not soften this into vague reassurance — say plainly that documentation does not exist yet and that it is part of what you're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this slide do the heavy lifting on credibility. He weighs Lead-level validation far more than an individual contributor's word — so make explicit, by name, that Hani and Elhady (Leads) and Abdelhameed (Senior SME) each independently checked this before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a concrete, bounded ask — not an open-ended request. Approval plus sponsorship, tied to two specific, named deliverables (time-savings measurement and documentation). This gives him something specific to say yes to, not a vague commitment.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63177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548640"/>
            <a:ext cx="3108960" cy="3108960"/>
          </a:xfrm>
          <a:prstGeom prst="ellipse">
            <a:avLst/>
          </a:prstGeom>
          <a:solidFill>
            <a:srgbClr val="2C3A8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3317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&amp; THERMAL DESIGN VALIDATION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9875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In-House Engineering Tool,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Independently Validated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storage volume (ES 3794 / IEC 62552) and refrigerant thermal cycle modeling — benchmarked against independent lab test data.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58368" y="5532120"/>
            <a:ext cx="2011680" cy="0"/>
          </a:xfrm>
          <a:prstGeom prst="line">
            <a:avLst/>
          </a:prstGeom>
          <a:noFill/>
          <a:ln w="31750">
            <a:solidFill>
              <a:srgbClr val="2FA6A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5669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Elrasoly  |  Engineering Design Tools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Design-stage decisions had no fast way to fail safely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7556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volume calculations required manual spreadsheets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2148840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net-volume calculation depended on manual spreadsheet work — slow, and error-prone under revision.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31546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3154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31272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Inverter-compressor performance was not modeled in-house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3520440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systematic way to model inverter-compressor behavior existed; decisions relied on ad hoc, heavy manual curve-fitting.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45262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4526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44988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physical lab cycle was the first real checkpoint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17320" y="4892040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(~2 days) and performance testing (several more) still have to happen for certification — but design mistakes were often caught only there, not before.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engine, two calculations, three independent reviewers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667512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3B5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0574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 Storage Volume Calculator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to ES 3794 (Egyptian standard) and IEC 62552 (international standard) net-volume methodology.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3246120"/>
            <a:ext cx="6035040" cy="0"/>
          </a:xfrm>
          <a:prstGeom prst="line">
            <a:avLst/>
          </a:prstGeom>
          <a:noFill/>
          <a:ln w="12700">
            <a:solidFill>
              <a:srgbClr val="DCE1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4290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Thermodynamic &amp; Inverter-Compressor Engine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384048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the refrigerant cycle end-to-end, including variable-speed (inverter) compressor performance — a capability that did not exist in-house before.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452360" y="1783080"/>
            <a:ext cx="4160520" cy="4023360"/>
          </a:xfrm>
          <a:prstGeom prst="roundRect">
            <a:avLst>
              <a:gd name="adj" fmla="val 1818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7452360" y="214884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FA6A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7818120" y="306324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built the logic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architecture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909560" y="3840480"/>
            <a:ext cx="3246120" cy="0"/>
          </a:xfrm>
          <a:prstGeom prst="line">
            <a:avLst/>
          </a:prstGeom>
          <a:noFill/>
          <a:ln w="12700">
            <a:solidFill>
              <a:srgbClr val="445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52360" y="4023360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FA6A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6000" dirty="0"/>
          </a:p>
        </p:txBody>
      </p:sp>
      <p:sp>
        <p:nvSpPr>
          <p:cNvPr id="16" name="Text 14"/>
          <p:cNvSpPr/>
          <p:nvPr/>
        </p:nvSpPr>
        <p:spPr>
          <a:xfrm>
            <a:off x="7818120" y="493776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engineers independently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and validated the outputs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— VOLUME CALCULATIONS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Checked against real test data and IEC compliance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49240" cy="2286000"/>
          </a:xfrm>
          <a:prstGeom prst="roundRect">
            <a:avLst>
              <a:gd name="adj" fmla="val 3200"/>
            </a:avLst>
          </a:prstGeom>
          <a:solidFill>
            <a:srgbClr val="F2F2F2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148840"/>
            <a:ext cx="502920" cy="502920"/>
          </a:xfrm>
          <a:prstGeom prst="ellipse">
            <a:avLst/>
          </a:prstGeom>
          <a:solidFill>
            <a:srgbClr val="2FA6A2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21031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Validated by Eng. Hani (Lead)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88036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Cross-checked tool outputs against actual measured test results.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63640" y="1828800"/>
            <a:ext cx="5349240" cy="2286000"/>
          </a:xfrm>
          <a:prstGeom prst="roundRect">
            <a:avLst>
              <a:gd name="adj" fmla="val 3200"/>
            </a:avLst>
          </a:prstGeom>
          <a:solidFill>
            <a:srgbClr val="F2F2F2"/>
          </a:solidFill>
          <a:ln/>
        </p:spPr>
      </p:sp>
      <p:sp>
        <p:nvSpPr>
          <p:cNvPr id="11" name="Shape 9"/>
          <p:cNvSpPr/>
          <p:nvPr/>
        </p:nvSpPr>
        <p:spPr>
          <a:xfrm>
            <a:off x="6583680" y="2148840"/>
            <a:ext cx="502920" cy="502920"/>
          </a:xfrm>
          <a:prstGeom prst="ellipse">
            <a:avLst/>
          </a:prstGeom>
          <a:solidFill>
            <a:srgbClr val="2FA6A2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69480" y="21031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Validated by Eng. Elhady (Lead)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83680" y="288036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methodology and outputs against IEC 62552 compliance requirements.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443484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434840"/>
            <a:ext cx="10332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was reviewed by the two leads who own this area — checked against measured data and the governing standard, not just against itself.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— THERMAL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Benchmarked against independent lab test data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291840" cy="3840480"/>
          </a:xfrm>
          <a:prstGeom prst="roundRect">
            <a:avLst>
              <a:gd name="adj" fmla="val 2222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2860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FA6A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1–3%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77240" y="32461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 from measured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performance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977640"/>
            <a:ext cx="2743200" cy="0"/>
          </a:xfrm>
          <a:prstGeom prst="line">
            <a:avLst/>
          </a:prstGeom>
          <a:noFill/>
          <a:ln w="12700">
            <a:solidFill>
              <a:srgbClr val="445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416052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refrigerator models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by ELaraby labs,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SHARP standard methodology</a:t>
            </a:r>
            <a:endParaRPr lang="en-US" sz="12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4160520" y="1828800"/>
          <a:ext cx="74980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GAP CLOSED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Inverter-compressor modeling: from manual guesswork to a system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03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4231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Manual, ad hoc spreadsheet curve-fitting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0175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Performed manually, compressor by compressor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4747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engineering time per evaluation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9319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standardized, repeatable process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187452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2103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FA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29400" y="24231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Systematic, in-house regression modeling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29400" y="30175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methodology across compressors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29400" y="34747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Repeatable, documented process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29400" y="39319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capability that did not exist in-house before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it match the lab number, in real time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2F2F2"/>
          </a:solidFill>
          <a:ln/>
        </p:spPr>
      </p:sp>
      <p:sp>
        <p:nvSpPr>
          <p:cNvPr id="6" name="Shape 4"/>
          <p:cNvSpPr/>
          <p:nvPr/>
        </p:nvSpPr>
        <p:spPr>
          <a:xfrm>
            <a:off x="1531620" y="22860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153162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1089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 cabinet geometry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77240" y="384048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dimensions for one of the 4 validated reference models.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154680" y="33832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383280" y="19659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2F2F2"/>
          </a:solidFill>
          <a:ln/>
        </p:spPr>
      </p:sp>
      <p:sp>
        <p:nvSpPr>
          <p:cNvPr id="12" name="Shape 10"/>
          <p:cNvSpPr/>
          <p:nvPr/>
        </p:nvSpPr>
        <p:spPr>
          <a:xfrm>
            <a:off x="4366260" y="22860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36626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11880" y="31089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 net volume result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611880" y="384048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computes ES 3794 / IEC 62552-aligned volume instantly.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989320" y="33832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217920" y="19659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2F2F2"/>
          </a:solidFill>
          <a:ln/>
        </p:spPr>
      </p:sp>
      <p:sp>
        <p:nvSpPr>
          <p:cNvPr id="18" name="Shape 16"/>
          <p:cNvSpPr/>
          <p:nvPr/>
        </p:nvSpPr>
        <p:spPr>
          <a:xfrm>
            <a:off x="7200900" y="22860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720090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46520" y="31089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thermal / compressor analysis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46520" y="384048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refrigerant cycle and inverter-compressor performance solved.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823960" y="33832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052560" y="196596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1E2761"/>
          </a:solidFill>
          <a:ln/>
        </p:spPr>
      </p:sp>
      <p:sp>
        <p:nvSpPr>
          <p:cNvPr id="24" name="Shape 22"/>
          <p:cNvSpPr/>
          <p:nvPr/>
        </p:nvSpPr>
        <p:spPr>
          <a:xfrm>
            <a:off x="10035540" y="2286000"/>
            <a:ext cx="640080" cy="640080"/>
          </a:xfrm>
          <a:prstGeom prst="ellipse">
            <a:avLst/>
          </a:prstGeom>
          <a:solidFill>
            <a:srgbClr val="2FA6A2"/>
          </a:solidFill>
          <a:ln/>
        </p:spPr>
      </p:sp>
      <p:sp>
        <p:nvSpPr>
          <p:cNvPr id="25" name="Text 23"/>
          <p:cNvSpPr/>
          <p:nvPr/>
        </p:nvSpPr>
        <p:spPr>
          <a:xfrm>
            <a:off x="1003554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281160" y="31089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to the ELaraby lab reference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9281160" y="384048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side-by-side against the precalculated, lab-measured number.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proven today, and what we're measuring next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4924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3B5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103120"/>
            <a:ext cx="457200" cy="457200"/>
          </a:xfrm>
          <a:prstGeom prst="ellipse">
            <a:avLst/>
          </a:prstGeom>
          <a:solidFill>
            <a:srgbClr val="2FA6A2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2148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 today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743200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1–3% accuracy vs. independent lab tests, across 4 models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3401568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methodology confirmed against IEC 62552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14400" y="4059936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Design-stage issues can now be caught before the physical lab cycle begins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14400" y="4718304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In-house capability to model inverter compressors, where none existed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63640" y="1828800"/>
            <a:ext cx="534924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5875">
            <a:solidFill>
              <a:srgbClr val="C97B2E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6629400" y="2103120"/>
            <a:ext cx="457200" cy="457200"/>
          </a:xfrm>
          <a:prstGeom prst="ellipse">
            <a:avLst/>
          </a:prstGeom>
          <a:solidFill>
            <a:srgbClr val="C97B2E"/>
          </a:solidFill>
          <a:ln/>
        </p:spPr>
      </p:sp>
      <p:sp>
        <p:nvSpPr>
          <p:cNvPr id="15" name="Text 13"/>
          <p:cNvSpPr/>
          <p:nvPr/>
        </p:nvSpPr>
        <p:spPr>
          <a:xfrm>
            <a:off x="66294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223760" y="208483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yet quantified — proposed next step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629400" y="2743200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hours saved at the concept-design stage have not been measured yet. The lab/certification cycle itself (measurement + performance testing) is unaffected — this tool operates earlier, in parallel.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29400" y="4069080"/>
            <a:ext cx="4709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Proposed: instrument and measure design-cycle time before/after adoption over the next design cycle.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A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ADDRESSING THE OBVIOUS QUESTIONS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you're likely already asking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5623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it reliable?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343400" y="1947672"/>
            <a:ext cx="0" cy="731520"/>
          </a:xfrm>
          <a:prstGeom prst="line">
            <a:avLst/>
          </a:prstGeom>
          <a:noFill/>
          <a:ln w="12700">
            <a:solidFill>
              <a:srgbClr val="D6D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856232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1–3% deviation from independent lab-measured results across 4 models; volume methodology checked against IEC 62552.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09067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if the developer leaves?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343400" y="3182112"/>
            <a:ext cx="0" cy="731520"/>
          </a:xfrm>
          <a:prstGeom prst="line">
            <a:avLst/>
          </a:prstGeom>
          <a:noFill/>
          <a:ln w="12700">
            <a:solidFill>
              <a:srgbClr val="D6D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3090672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risk today — no formal documentation or handover process exists yet. Addressed directly below, not hidden.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25196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2F2F2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32511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this reviewed, or just built and shipped?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4343400" y="4416552"/>
            <a:ext cx="0" cy="731520"/>
          </a:xfrm>
          <a:prstGeom prst="line">
            <a:avLst/>
          </a:prstGeom>
          <a:noFill/>
          <a:ln w="12700">
            <a:solidFill>
              <a:srgbClr val="D6DA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4325112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validated by two Leads (Hani, Elhady) and a senior thermal SME (Abdelhameed) before this meeting.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553212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553212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 will be closed by creating formal documentation — proposed as part of the ask on the final slide.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STANDS BEHIND THIS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Independently validated, not self-certified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20440" cy="3749040"/>
          </a:xfrm>
          <a:prstGeom prst="roundRect">
            <a:avLst>
              <a:gd name="adj" fmla="val 2078"/>
            </a:avLst>
          </a:prstGeom>
          <a:solidFill>
            <a:srgbClr val="263177"/>
          </a:solidFill>
          <a:ln/>
        </p:spPr>
      </p:sp>
      <p:sp>
        <p:nvSpPr>
          <p:cNvPr id="6" name="Shape 4"/>
          <p:cNvSpPr/>
          <p:nvPr/>
        </p:nvSpPr>
        <p:spPr>
          <a:xfrm>
            <a:off x="1897380" y="2331720"/>
            <a:ext cx="822960" cy="822960"/>
          </a:xfrm>
          <a:prstGeom prst="ellipse">
            <a:avLst/>
          </a:prstGeom>
          <a:solidFill>
            <a:srgbClr val="2FA6A2"/>
          </a:solidFill>
          <a:ln/>
        </p:spPr>
      </p:sp>
      <p:sp>
        <p:nvSpPr>
          <p:cNvPr id="7" name="Text 5"/>
          <p:cNvSpPr/>
          <p:nvPr/>
        </p:nvSpPr>
        <p:spPr>
          <a:xfrm>
            <a:off x="1897380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33832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Eng. Elhady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37947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2FA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425196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Originated the project concept and validated volume calculations.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43400" y="1965960"/>
            <a:ext cx="3520440" cy="3749040"/>
          </a:xfrm>
          <a:prstGeom prst="roundRect">
            <a:avLst>
              <a:gd name="adj" fmla="val 2078"/>
            </a:avLst>
          </a:prstGeom>
          <a:solidFill>
            <a:srgbClr val="263177"/>
          </a:solidFill>
          <a:ln/>
        </p:spPr>
      </p:sp>
      <p:sp>
        <p:nvSpPr>
          <p:cNvPr id="12" name="Shape 10"/>
          <p:cNvSpPr/>
          <p:nvPr/>
        </p:nvSpPr>
        <p:spPr>
          <a:xfrm>
            <a:off x="5692140" y="2331720"/>
            <a:ext cx="822960" cy="822960"/>
          </a:xfrm>
          <a:prstGeom prst="ellipse">
            <a:avLst/>
          </a:prstGeom>
          <a:solidFill>
            <a:srgbClr val="2FA6A2"/>
          </a:solidFill>
          <a:ln/>
        </p:spPr>
      </p:sp>
      <p:sp>
        <p:nvSpPr>
          <p:cNvPr id="13" name="Text 11"/>
          <p:cNvSpPr/>
          <p:nvPr/>
        </p:nvSpPr>
        <p:spPr>
          <a:xfrm>
            <a:off x="5692140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72000" y="33832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Eng. Hani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72000" y="37947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2FA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0" y="425196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volume calculations against actual measured test results.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38160" y="1965960"/>
            <a:ext cx="3520440" cy="3749040"/>
          </a:xfrm>
          <a:prstGeom prst="roundRect">
            <a:avLst>
              <a:gd name="adj" fmla="val 2078"/>
            </a:avLst>
          </a:prstGeom>
          <a:solidFill>
            <a:srgbClr val="263177"/>
          </a:solidFill>
          <a:ln/>
        </p:spPr>
      </p:sp>
      <p:sp>
        <p:nvSpPr>
          <p:cNvPr id="18" name="Shape 16"/>
          <p:cNvSpPr/>
          <p:nvPr/>
        </p:nvSpPr>
        <p:spPr>
          <a:xfrm>
            <a:off x="9486900" y="2331720"/>
            <a:ext cx="822960" cy="822960"/>
          </a:xfrm>
          <a:prstGeom prst="ellipse">
            <a:avLst/>
          </a:prstGeom>
          <a:solidFill>
            <a:srgbClr val="2FA6A2"/>
          </a:solidFill>
          <a:ln/>
        </p:spPr>
      </p:sp>
      <p:sp>
        <p:nvSpPr>
          <p:cNvPr id="19" name="Text 17"/>
          <p:cNvSpPr/>
          <p:nvPr/>
        </p:nvSpPr>
        <p:spPr>
          <a:xfrm>
            <a:off x="9486900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366760" y="33832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Eng. Abdelhameed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366760" y="37947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2FA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— THERMAL SME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458200" y="425196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Subject-matter authority for thermal analysis and the compressor engine.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486400" cy="5486400"/>
          </a:xfrm>
          <a:prstGeom prst="ellipse">
            <a:avLst/>
          </a:prstGeom>
          <a:solidFill>
            <a:srgbClr val="26317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asking for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2103120"/>
            <a:ext cx="502920" cy="502920"/>
          </a:xfrm>
          <a:prstGeom prst="ellipse">
            <a:avLst/>
          </a:prstGeom>
          <a:solidFill>
            <a:srgbClr val="2FA6A2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20574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Approval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248716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formalize and continue this tool as an official design-stage engineering resource.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94360" y="3154680"/>
            <a:ext cx="502920" cy="502920"/>
          </a:xfrm>
          <a:prstGeom prst="ellipse">
            <a:avLst/>
          </a:prstGeom>
          <a:solidFill>
            <a:srgbClr val="2FA6A2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31089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Sponsorship from ELAraby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353872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fund the next phase of work.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343400"/>
            <a:ext cx="11064240" cy="1965960"/>
          </a:xfrm>
          <a:prstGeom prst="roundRect">
            <a:avLst>
              <a:gd name="adj" fmla="val 3721"/>
            </a:avLst>
          </a:prstGeom>
          <a:solidFill>
            <a:srgbClr val="263177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5262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A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Sponsorship funds two concrete deliverables: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4937760"/>
            <a:ext cx="10332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design-cycle time savings — measure engineering hours before/after adoption over the next design cycle.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maintainability gap — create formal documentation so the tool does not depend on one person.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2026-08-01T20:50:17Z</dcterms:created>
  <dcterms:modified xsi:type="dcterms:W3CDTF">2026-08-01T20:50:17Z</dcterms:modified>
</cp:coreProperties>
</file>