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005488" y="2720429"/>
            <a:ext cx="8181022" cy="670470"/>
          </a:xfrm>
          <a:prstGeom prst="rect">
            <a:avLst/>
          </a:prstGeom>
          <a:noFill/>
        </p:spPr>
        <p:txBody>
          <a:bodyPr wrap="square" lIns="0" rIns="0" tIns="0" bIns="0" anchor="t">
            <a:spAutoFit/>
          </a:bodyPr>
          <a:lstStyle/>
          <a:p>
            <a:pPr algn="ctr">
              <a:lnSpc>
                <a:spcPts val="5280"/>
              </a:lnSpc>
            </a:pPr>
            <a:r>
              <a:rPr b="1" sz="4800" i="0" u="none">
                <a:solidFill>
                  <a:srgbClr val="0F172A"/>
                </a:solidFill>
                <a:latin typeface="Montserrat"/>
              </a:rPr>
              <a:t>Volume &amp; Thermal Solver</a:t>
            </a:r>
          </a:p>
        </p:txBody>
      </p:sp>
      <p:sp>
        <p:nvSpPr>
          <p:cNvPr id="4" name="TextBox 3"/>
          <p:cNvSpPr txBox="1"/>
          <p:nvPr/>
        </p:nvSpPr>
        <p:spPr>
          <a:xfrm>
            <a:off x="2200275" y="3581400"/>
            <a:ext cx="7791450" cy="365670"/>
          </a:xfrm>
          <a:prstGeom prst="rect">
            <a:avLst/>
          </a:prstGeom>
          <a:noFill/>
        </p:spPr>
        <p:txBody>
          <a:bodyPr wrap="square" lIns="0" rIns="0" tIns="0" bIns="0" anchor="t">
            <a:spAutoFit/>
          </a:bodyPr>
          <a:lstStyle/>
          <a:p>
            <a:pPr algn="ctr">
              <a:lnSpc>
                <a:spcPts val="2879"/>
              </a:lnSpc>
            </a:pPr>
            <a:r>
              <a:rPr b="0" sz="1800" i="0" u="none">
                <a:solidFill>
                  <a:srgbClr val="475569"/>
                </a:solidFill>
                <a:latin typeface="Inter Medium"/>
              </a:rPr>
              <a:t>Accelerated Time-to-Market &amp; Right-First-Time Design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091779"/>
            <a:ext cx="5286375" cy="3333750"/>
          </a:xfrm>
          <a:prstGeom prst="rect">
            <a:avLst/>
          </a:prstGeom>
        </p:spPr>
      </p:pic>
      <p:sp>
        <p:nvSpPr>
          <p:cNvPr id="4" name="TextBox 3"/>
          <p:cNvSpPr txBox="1"/>
          <p:nvPr/>
        </p:nvSpPr>
        <p:spPr>
          <a:xfrm>
            <a:off x="714375" y="2090826"/>
            <a:ext cx="95250" cy="276225"/>
          </a:xfrm>
          <a:prstGeom prst="rect">
            <a:avLst/>
          </a:prstGeom>
          <a:noFill/>
        </p:spPr>
        <p:txBody>
          <a:bodyPr wrap="square" lIns="0" rIns="0" tIns="0" bIns="0" anchor="t">
            <a:spAutoFit/>
          </a:bodyPr>
          <a:lstStyle/>
          <a:p>
            <a:pPr algn="l"/>
            <a:r>
              <a:rPr b="0" sz="1350" i="0" u="none">
                <a:solidFill>
                  <a:srgbClr val="334155"/>
                </a:solidFill>
                <a:latin typeface="Inter"/>
              </a:rPr>
              <a:t>•</a:t>
            </a:r>
          </a:p>
        </p:txBody>
      </p:sp>
      <p:sp>
        <p:nvSpPr>
          <p:cNvPr id="5" name="TextBox 4"/>
          <p:cNvSpPr txBox="1"/>
          <p:nvPr/>
        </p:nvSpPr>
        <p:spPr>
          <a:xfrm>
            <a:off x="809625" y="2091779"/>
            <a:ext cx="5048250" cy="822870"/>
          </a:xfrm>
          <a:prstGeom prst="rect">
            <a:avLst/>
          </a:prstGeom>
          <a:noFill/>
        </p:spPr>
        <p:txBody>
          <a:bodyPr wrap="square" lIns="95250" rIns="0" tIns="0" bIns="0" anchor="t">
            <a:spAutoFit/>
          </a:bodyPr>
          <a:lstStyle/>
          <a:p>
            <a:pPr algn="l">
              <a:lnSpc>
                <a:spcPts val="2160"/>
              </a:lnSpc>
            </a:pPr>
            <a:r>
              <a:rPr b="1" sz="1350" i="0" u="none">
                <a:solidFill>
                  <a:srgbClr val="334155"/>
                </a:solidFill>
                <a:latin typeface="Inter"/>
              </a:rPr>
              <a:t>Unified Solution:</a:t>
            </a:r>
            <a:r>
              <a:rPr b="0" sz="1350" i="0" u="none">
                <a:solidFill>
                  <a:srgbClr val="334155"/>
                </a:solidFill>
                <a:latin typeface="Inter"/>
              </a:rPr>
              <a:t> Combines complex geometric cabinet volume calculations with deep thermodynamic performance analysis into a single engine.</a:t>
            </a:r>
          </a:p>
        </p:txBody>
      </p:sp>
      <p:sp>
        <p:nvSpPr>
          <p:cNvPr id="6" name="TextBox 5"/>
          <p:cNvSpPr txBox="1"/>
          <p:nvPr/>
        </p:nvSpPr>
        <p:spPr>
          <a:xfrm>
            <a:off x="714375" y="3056572"/>
            <a:ext cx="95250" cy="276225"/>
          </a:xfrm>
          <a:prstGeom prst="rect">
            <a:avLst/>
          </a:prstGeom>
          <a:noFill/>
        </p:spPr>
        <p:txBody>
          <a:bodyPr wrap="square" lIns="0" rIns="0" tIns="0" bIns="0" anchor="t">
            <a:spAutoFit/>
          </a:bodyPr>
          <a:lstStyle/>
          <a:p>
            <a:pPr algn="l"/>
            <a:r>
              <a:rPr b="0" sz="1350" i="0" u="none">
                <a:solidFill>
                  <a:srgbClr val="334155"/>
                </a:solidFill>
                <a:latin typeface="Inter"/>
              </a:rPr>
              <a:t>•</a:t>
            </a:r>
          </a:p>
        </p:txBody>
      </p:sp>
      <p:sp>
        <p:nvSpPr>
          <p:cNvPr id="7" name="TextBox 6"/>
          <p:cNvSpPr txBox="1"/>
          <p:nvPr/>
        </p:nvSpPr>
        <p:spPr>
          <a:xfrm>
            <a:off x="809625" y="3057525"/>
            <a:ext cx="5048250" cy="822870"/>
          </a:xfrm>
          <a:prstGeom prst="rect">
            <a:avLst/>
          </a:prstGeom>
          <a:noFill/>
        </p:spPr>
        <p:txBody>
          <a:bodyPr wrap="square" lIns="95250" rIns="0" tIns="0" bIns="0" anchor="t">
            <a:spAutoFit/>
          </a:bodyPr>
          <a:lstStyle/>
          <a:p>
            <a:pPr algn="l">
              <a:lnSpc>
                <a:spcPts val="2160"/>
              </a:lnSpc>
            </a:pPr>
            <a:r>
              <a:rPr b="1" sz="1350" i="0" u="none">
                <a:solidFill>
                  <a:srgbClr val="334155"/>
                </a:solidFill>
                <a:latin typeface="Inter"/>
              </a:rPr>
              <a:t>Accelerated Timeline:</a:t>
            </a:r>
            <a:r>
              <a:rPr b="0" sz="1350" i="0" u="none">
                <a:solidFill>
                  <a:srgbClr val="334155"/>
                </a:solidFill>
                <a:latin typeface="Inter"/>
              </a:rPr>
              <a:t> Reduces multi-day design iteration cycles between mechanical and thermal engineering teams to minutes.</a:t>
            </a:r>
          </a:p>
        </p:txBody>
      </p:sp>
      <p:sp>
        <p:nvSpPr>
          <p:cNvPr id="8" name="TextBox 7"/>
          <p:cNvSpPr txBox="1"/>
          <p:nvPr/>
        </p:nvSpPr>
        <p:spPr>
          <a:xfrm>
            <a:off x="714375" y="4022318"/>
            <a:ext cx="95250" cy="276225"/>
          </a:xfrm>
          <a:prstGeom prst="rect">
            <a:avLst/>
          </a:prstGeom>
          <a:noFill/>
        </p:spPr>
        <p:txBody>
          <a:bodyPr wrap="square" lIns="0" rIns="0" tIns="0" bIns="0" anchor="t">
            <a:spAutoFit/>
          </a:bodyPr>
          <a:lstStyle/>
          <a:p>
            <a:pPr algn="l"/>
            <a:r>
              <a:rPr b="0" sz="1350" i="0" u="none">
                <a:solidFill>
                  <a:srgbClr val="334155"/>
                </a:solidFill>
                <a:latin typeface="Inter"/>
              </a:rPr>
              <a:t>•</a:t>
            </a:r>
          </a:p>
        </p:txBody>
      </p:sp>
      <p:sp>
        <p:nvSpPr>
          <p:cNvPr id="9" name="TextBox 8"/>
          <p:cNvSpPr txBox="1"/>
          <p:nvPr/>
        </p:nvSpPr>
        <p:spPr>
          <a:xfrm>
            <a:off x="809625" y="4023270"/>
            <a:ext cx="5048250" cy="822870"/>
          </a:xfrm>
          <a:prstGeom prst="rect">
            <a:avLst/>
          </a:prstGeom>
          <a:noFill/>
        </p:spPr>
        <p:txBody>
          <a:bodyPr wrap="square" lIns="95250" rIns="0" tIns="0" bIns="0" anchor="t">
            <a:spAutoFit/>
          </a:bodyPr>
          <a:lstStyle/>
          <a:p>
            <a:pPr algn="l">
              <a:lnSpc>
                <a:spcPts val="2160"/>
              </a:lnSpc>
            </a:pPr>
            <a:r>
              <a:rPr b="1" sz="1350" i="0" u="none">
                <a:solidFill>
                  <a:srgbClr val="334155"/>
                </a:solidFill>
                <a:latin typeface="Inter"/>
              </a:rPr>
              <a:t>Optimized Cost:</a:t>
            </a:r>
            <a:r>
              <a:rPr b="0" sz="1350" i="0" u="none">
                <a:solidFill>
                  <a:srgbClr val="334155"/>
                </a:solidFill>
                <a:latin typeface="Inter"/>
              </a:rPr>
              <a:t> Enables instant parametric sweeping to balance polyurethane insulation costs against targeted energy rankings early in the design phase.</a:t>
            </a:r>
          </a:p>
        </p:txBody>
      </p:sp>
      <p:sp>
        <p:nvSpPr>
          <p:cNvPr id="10" name="TextBox 9"/>
          <p:cNvSpPr txBox="1"/>
          <p:nvPr/>
        </p:nvSpPr>
        <p:spPr>
          <a:xfrm>
            <a:off x="714375" y="4988063"/>
            <a:ext cx="95250" cy="276225"/>
          </a:xfrm>
          <a:prstGeom prst="rect">
            <a:avLst/>
          </a:prstGeom>
          <a:noFill/>
        </p:spPr>
        <p:txBody>
          <a:bodyPr wrap="square" lIns="0" rIns="0" tIns="0" bIns="0" anchor="t">
            <a:spAutoFit/>
          </a:bodyPr>
          <a:lstStyle/>
          <a:p>
            <a:pPr algn="l"/>
            <a:r>
              <a:rPr b="0" sz="1350" i="0" u="none">
                <a:solidFill>
                  <a:srgbClr val="334155"/>
                </a:solidFill>
                <a:latin typeface="Inter"/>
              </a:rPr>
              <a:t>•</a:t>
            </a:r>
          </a:p>
        </p:txBody>
      </p:sp>
      <p:sp>
        <p:nvSpPr>
          <p:cNvPr id="11" name="TextBox 10"/>
          <p:cNvSpPr txBox="1"/>
          <p:nvPr/>
        </p:nvSpPr>
        <p:spPr>
          <a:xfrm>
            <a:off x="809625" y="4989016"/>
            <a:ext cx="5048250" cy="548580"/>
          </a:xfrm>
          <a:prstGeom prst="rect">
            <a:avLst/>
          </a:prstGeom>
          <a:noFill/>
        </p:spPr>
        <p:txBody>
          <a:bodyPr wrap="square" lIns="95250" rIns="0" tIns="0" bIns="0" anchor="t">
            <a:spAutoFit/>
          </a:bodyPr>
          <a:lstStyle/>
          <a:p>
            <a:pPr algn="l">
              <a:lnSpc>
                <a:spcPts val="2160"/>
              </a:lnSpc>
            </a:pPr>
            <a:r>
              <a:rPr b="1" sz="1350" i="0" u="none">
                <a:solidFill>
                  <a:srgbClr val="334155"/>
                </a:solidFill>
                <a:latin typeface="Inter"/>
              </a:rPr>
              <a:t>Rigorous Validation:</a:t>
            </a:r>
            <a:r>
              <a:rPr b="0" sz="1350" i="0" u="none">
                <a:solidFill>
                  <a:srgbClr val="334155"/>
                </a:solidFill>
                <a:latin typeface="Inter"/>
              </a:rPr>
              <a:t> Core algorithms fully benchmarked against existing production models.</a:t>
            </a:r>
          </a:p>
        </p:txBody>
      </p:sp>
      <p:pic>
        <p:nvPicPr>
          <p:cNvPr id="12" name="Picture 11" descr="image.png"/>
          <p:cNvPicPr>
            <a:picLocks noChangeAspect="1"/>
          </p:cNvPicPr>
          <p:nvPr/>
        </p:nvPicPr>
        <p:blipFill>
          <a:blip r:embed="rId4"/>
          <a:stretch>
            <a:fillRect/>
          </a:stretch>
        </p:blipFill>
        <p:spPr>
          <a:xfrm>
            <a:off x="6334125" y="2091779"/>
            <a:ext cx="5286375" cy="3333750"/>
          </a:xfrm>
          <a:prstGeom prst="rect">
            <a:avLst/>
          </a:prstGeom>
        </p:spPr>
      </p:pic>
      <p:sp>
        <p:nvSpPr>
          <p:cNvPr id="13" name="TextBox 12"/>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Executive Summary</a:t>
            </a:r>
          </a:p>
        </p:txBody>
      </p:sp>
      <p:sp>
        <p:nvSpPr>
          <p:cNvPr id="14" name="Rectangle 13"/>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377529"/>
            <a:ext cx="5286375" cy="3017341"/>
          </a:xfrm>
          <a:prstGeom prst="rect">
            <a:avLst/>
          </a:prstGeom>
        </p:spPr>
      </p:pic>
      <p:pic>
        <p:nvPicPr>
          <p:cNvPr id="4" name="Picture 3" descr="image.png"/>
          <p:cNvPicPr>
            <a:picLocks noChangeAspect="1"/>
          </p:cNvPicPr>
          <p:nvPr/>
        </p:nvPicPr>
        <p:blipFill>
          <a:blip r:embed="rId4"/>
          <a:stretch>
            <a:fillRect/>
          </a:stretch>
        </p:blipFill>
        <p:spPr>
          <a:xfrm>
            <a:off x="6334125" y="2377529"/>
            <a:ext cx="5286375" cy="3017341"/>
          </a:xfrm>
          <a:prstGeom prst="rect">
            <a:avLst/>
          </a:prstGeom>
        </p:spPr>
      </p:pic>
      <p:sp>
        <p:nvSpPr>
          <p:cNvPr id="5" name="TextBox 4"/>
          <p:cNvSpPr txBox="1"/>
          <p:nvPr/>
        </p:nvSpPr>
        <p:spPr>
          <a:xfrm>
            <a:off x="962025" y="2768054"/>
            <a:ext cx="4730591" cy="304800"/>
          </a:xfrm>
          <a:prstGeom prst="rect">
            <a:avLst/>
          </a:prstGeom>
          <a:noFill/>
        </p:spPr>
        <p:txBody>
          <a:bodyPr wrap="square" lIns="0" rIns="0" tIns="0" bIns="0" anchor="t">
            <a:spAutoFit/>
          </a:bodyPr>
          <a:lstStyle/>
          <a:p>
            <a:pPr algn="l"/>
            <a:r>
              <a:rPr b="0" sz="1950" i="0" u="none">
                <a:solidFill>
                  <a:srgbClr val="1E40AF"/>
                </a:solidFill>
                <a:latin typeface="Montserrat SemiBold"/>
              </a:rPr>
              <a:t>The Status Quo</a:t>
            </a:r>
          </a:p>
        </p:txBody>
      </p:sp>
      <p:sp>
        <p:nvSpPr>
          <p:cNvPr id="6" name="TextBox 5"/>
          <p:cNvSpPr txBox="1"/>
          <p:nvPr/>
        </p:nvSpPr>
        <p:spPr>
          <a:xfrm>
            <a:off x="962025" y="3215729"/>
            <a:ext cx="4505325" cy="1645741"/>
          </a:xfrm>
          <a:prstGeom prst="rect">
            <a:avLst/>
          </a:prstGeom>
          <a:noFill/>
        </p:spPr>
        <p:txBody>
          <a:bodyPr wrap="square" lIns="0" rIns="0" tIns="0" bIns="0" anchor="t">
            <a:spAutoFit/>
          </a:bodyPr>
          <a:lstStyle/>
          <a:p>
            <a:pPr algn="l">
              <a:lnSpc>
                <a:spcPts val="2160"/>
              </a:lnSpc>
            </a:pPr>
            <a:r>
              <a:rPr b="0" sz="1350" i="0" u="none">
                <a:solidFill>
                  <a:srgbClr val="334155"/>
                </a:solidFill>
                <a:latin typeface="Inter"/>
              </a:rPr>
              <a:t>Currently, mechanical design (cabinet volume, insulation thickness) and system engineering (thermal loads, compressor matching) operate in silos. Calculating net volume, PU weight, and mapping that to compressor performance requires fragmented, manual effort.</a:t>
            </a:r>
          </a:p>
        </p:txBody>
      </p:sp>
      <p:sp>
        <p:nvSpPr>
          <p:cNvPr id="7" name="TextBox 6"/>
          <p:cNvSpPr txBox="1"/>
          <p:nvPr/>
        </p:nvSpPr>
        <p:spPr>
          <a:xfrm>
            <a:off x="6724650" y="2768054"/>
            <a:ext cx="4730591" cy="304800"/>
          </a:xfrm>
          <a:prstGeom prst="rect">
            <a:avLst/>
          </a:prstGeom>
          <a:noFill/>
        </p:spPr>
        <p:txBody>
          <a:bodyPr wrap="square" lIns="0" rIns="0" tIns="0" bIns="0" anchor="t">
            <a:spAutoFit/>
          </a:bodyPr>
          <a:lstStyle/>
          <a:p>
            <a:pPr algn="l"/>
            <a:r>
              <a:rPr b="0" sz="1950" i="0" u="none">
                <a:solidFill>
                  <a:srgbClr val="1E40AF"/>
                </a:solidFill>
                <a:latin typeface="Montserrat SemiBold"/>
              </a:rPr>
              <a:t>The Bottleneck</a:t>
            </a:r>
          </a:p>
        </p:txBody>
      </p:sp>
      <p:sp>
        <p:nvSpPr>
          <p:cNvPr id="8" name="TextBox 7"/>
          <p:cNvSpPr txBox="1"/>
          <p:nvPr/>
        </p:nvSpPr>
        <p:spPr>
          <a:xfrm>
            <a:off x="6724650" y="3215729"/>
            <a:ext cx="4505325" cy="1371451"/>
          </a:xfrm>
          <a:prstGeom prst="rect">
            <a:avLst/>
          </a:prstGeom>
          <a:noFill/>
        </p:spPr>
        <p:txBody>
          <a:bodyPr wrap="square" lIns="0" rIns="0" tIns="0" bIns="0" anchor="t">
            <a:spAutoFit/>
          </a:bodyPr>
          <a:lstStyle/>
          <a:p>
            <a:pPr algn="l">
              <a:lnSpc>
                <a:spcPts val="2160"/>
              </a:lnSpc>
            </a:pPr>
            <a:r>
              <a:rPr b="0" sz="1350" i="0" u="none">
                <a:solidFill>
                  <a:srgbClr val="334155"/>
                </a:solidFill>
                <a:latin typeface="Inter"/>
              </a:rPr>
              <a:t>When engineering changes a single parameter—such as the compressor step geometry or door dike depth—evaluating the cascading impact on thermal load and total energy consumption is time-consuming, delaying critical upfront design decisions.</a:t>
            </a:r>
          </a:p>
        </p:txBody>
      </p:sp>
      <p:sp>
        <p:nvSpPr>
          <p:cNvPr id="9" name="TextBox 8"/>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The Capability Gap</a:t>
            </a:r>
          </a:p>
        </p:txBody>
      </p:sp>
      <p:sp>
        <p:nvSpPr>
          <p:cNvPr id="10" name="Rectangle 9"/>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138362"/>
            <a:ext cx="3429000" cy="3495526"/>
          </a:xfrm>
          <a:prstGeom prst="rect">
            <a:avLst/>
          </a:prstGeom>
        </p:spPr>
      </p:pic>
      <p:pic>
        <p:nvPicPr>
          <p:cNvPr id="4" name="Picture 3" descr="image.png"/>
          <p:cNvPicPr>
            <a:picLocks noChangeAspect="1"/>
          </p:cNvPicPr>
          <p:nvPr/>
        </p:nvPicPr>
        <p:blipFill>
          <a:blip r:embed="rId4"/>
          <a:stretch>
            <a:fillRect/>
          </a:stretch>
        </p:blipFill>
        <p:spPr>
          <a:xfrm>
            <a:off x="4381500" y="2138362"/>
            <a:ext cx="3429000" cy="3495526"/>
          </a:xfrm>
          <a:prstGeom prst="rect">
            <a:avLst/>
          </a:prstGeom>
        </p:spPr>
      </p:pic>
      <p:pic>
        <p:nvPicPr>
          <p:cNvPr id="5" name="Picture 4" descr="image.png"/>
          <p:cNvPicPr>
            <a:picLocks noChangeAspect="1"/>
          </p:cNvPicPr>
          <p:nvPr/>
        </p:nvPicPr>
        <p:blipFill>
          <a:blip r:embed="rId5"/>
          <a:stretch>
            <a:fillRect/>
          </a:stretch>
        </p:blipFill>
        <p:spPr>
          <a:xfrm>
            <a:off x="8191500" y="2138362"/>
            <a:ext cx="3429000" cy="3495526"/>
          </a:xfrm>
          <a:prstGeom prst="rect">
            <a:avLst/>
          </a:prstGeom>
        </p:spPr>
      </p:pic>
      <p:sp>
        <p:nvSpPr>
          <p:cNvPr id="6" name="TextBox 5"/>
          <p:cNvSpPr txBox="1"/>
          <p:nvPr/>
        </p:nvSpPr>
        <p:spPr>
          <a:xfrm>
            <a:off x="1440894" y="3281362"/>
            <a:ext cx="1690211" cy="304800"/>
          </a:xfrm>
          <a:prstGeom prst="rect">
            <a:avLst/>
          </a:prstGeom>
          <a:noFill/>
        </p:spPr>
        <p:txBody>
          <a:bodyPr wrap="square" lIns="0" rIns="0" tIns="0" bIns="0" anchor="t">
            <a:spAutoFit/>
          </a:bodyPr>
          <a:lstStyle/>
          <a:p>
            <a:pPr algn="ctr"/>
            <a:r>
              <a:rPr b="0" sz="1950" i="0" u="none">
                <a:solidFill>
                  <a:srgbClr val="1E40AF"/>
                </a:solidFill>
                <a:latin typeface="Montserrat SemiBold"/>
              </a:rPr>
              <a:t>Architecture</a:t>
            </a:r>
          </a:p>
        </p:txBody>
      </p:sp>
      <p:sp>
        <p:nvSpPr>
          <p:cNvPr id="7" name="TextBox 6"/>
          <p:cNvSpPr txBox="1"/>
          <p:nvPr/>
        </p:nvSpPr>
        <p:spPr>
          <a:xfrm>
            <a:off x="866775" y="3729037"/>
            <a:ext cx="2838450" cy="1371451"/>
          </a:xfrm>
          <a:prstGeom prst="rect">
            <a:avLst/>
          </a:prstGeom>
          <a:noFill/>
        </p:spPr>
        <p:txBody>
          <a:bodyPr wrap="square" lIns="0" rIns="0" tIns="0" bIns="0" anchor="t">
            <a:spAutoFit/>
          </a:bodyPr>
          <a:lstStyle/>
          <a:p>
            <a:pPr algn="ctr">
              <a:lnSpc>
                <a:spcPts val="2160"/>
              </a:lnSpc>
            </a:pPr>
            <a:r>
              <a:rPr b="0" sz="1350" i="0" u="none">
                <a:solidFill>
                  <a:srgbClr val="334155"/>
                </a:solidFill>
                <a:latin typeface="Inter"/>
              </a:rPr>
              <a:t>The foundational logic and baseline formulas were originated by Eng. Elhady, ensuring the solver executes proven methodologies instantly.</a:t>
            </a:r>
          </a:p>
        </p:txBody>
      </p:sp>
      <p:sp>
        <p:nvSpPr>
          <p:cNvPr id="8" name="TextBox 7"/>
          <p:cNvSpPr txBox="1"/>
          <p:nvPr/>
        </p:nvSpPr>
        <p:spPr>
          <a:xfrm>
            <a:off x="5430916" y="3281362"/>
            <a:ext cx="1330166" cy="304800"/>
          </a:xfrm>
          <a:prstGeom prst="rect">
            <a:avLst/>
          </a:prstGeom>
          <a:noFill/>
        </p:spPr>
        <p:txBody>
          <a:bodyPr wrap="square" lIns="0" rIns="0" tIns="0" bIns="0" anchor="t">
            <a:spAutoFit/>
          </a:bodyPr>
          <a:lstStyle/>
          <a:p>
            <a:pPr algn="ctr"/>
            <a:r>
              <a:rPr b="0" sz="1950" i="0" u="none">
                <a:solidFill>
                  <a:srgbClr val="1E40AF"/>
                </a:solidFill>
                <a:latin typeface="Montserrat SemiBold"/>
              </a:rPr>
              <a:t>Geometry</a:t>
            </a:r>
          </a:p>
        </p:txBody>
      </p:sp>
      <p:sp>
        <p:nvSpPr>
          <p:cNvPr id="9" name="TextBox 8"/>
          <p:cNvSpPr txBox="1"/>
          <p:nvPr/>
        </p:nvSpPr>
        <p:spPr>
          <a:xfrm>
            <a:off x="4676775" y="3729037"/>
            <a:ext cx="2838450" cy="1371451"/>
          </a:xfrm>
          <a:prstGeom prst="rect">
            <a:avLst/>
          </a:prstGeom>
          <a:noFill/>
        </p:spPr>
        <p:txBody>
          <a:bodyPr wrap="square" lIns="0" rIns="0" tIns="0" bIns="0" anchor="t">
            <a:spAutoFit/>
          </a:bodyPr>
          <a:lstStyle/>
          <a:p>
            <a:pPr algn="ctr">
              <a:lnSpc>
                <a:spcPts val="2160"/>
              </a:lnSpc>
            </a:pPr>
            <a:r>
              <a:rPr b="0" sz="1350" i="0" u="none">
                <a:solidFill>
                  <a:srgbClr val="334155"/>
                </a:solidFill>
                <a:latin typeface="Inter"/>
              </a:rPr>
              <a:t>Eng. Hani verified the volume calculation logic, including complex cross-sectional areas for stepped floors, door dikes, and evaporator intrusions.</a:t>
            </a:r>
          </a:p>
        </p:txBody>
      </p:sp>
      <p:sp>
        <p:nvSpPr>
          <p:cNvPr id="10" name="TextBox 9"/>
          <p:cNvSpPr txBox="1"/>
          <p:nvPr/>
        </p:nvSpPr>
        <p:spPr>
          <a:xfrm>
            <a:off x="8645842" y="3281362"/>
            <a:ext cx="2520315" cy="304800"/>
          </a:xfrm>
          <a:prstGeom prst="rect">
            <a:avLst/>
          </a:prstGeom>
          <a:noFill/>
        </p:spPr>
        <p:txBody>
          <a:bodyPr wrap="square" lIns="0" rIns="0" tIns="0" bIns="0" anchor="t">
            <a:spAutoFit/>
          </a:bodyPr>
          <a:lstStyle/>
          <a:p>
            <a:pPr algn="ctr"/>
            <a:r>
              <a:rPr b="0" sz="1950" i="0" u="none">
                <a:solidFill>
                  <a:srgbClr val="1E40AF"/>
                </a:solidFill>
                <a:latin typeface="Montserrat SemiBold"/>
              </a:rPr>
              <a:t>Thermal Dynamics</a:t>
            </a:r>
          </a:p>
        </p:txBody>
      </p:sp>
      <p:sp>
        <p:nvSpPr>
          <p:cNvPr id="11" name="TextBox 10"/>
          <p:cNvSpPr txBox="1"/>
          <p:nvPr/>
        </p:nvSpPr>
        <p:spPr>
          <a:xfrm>
            <a:off x="8486775" y="3729037"/>
            <a:ext cx="2838450" cy="1371451"/>
          </a:xfrm>
          <a:prstGeom prst="rect">
            <a:avLst/>
          </a:prstGeom>
          <a:noFill/>
        </p:spPr>
        <p:txBody>
          <a:bodyPr wrap="square" lIns="0" rIns="0" tIns="0" bIns="0" anchor="t">
            <a:spAutoFit/>
          </a:bodyPr>
          <a:lstStyle/>
          <a:p>
            <a:pPr algn="ctr">
              <a:lnSpc>
                <a:spcPts val="2160"/>
              </a:lnSpc>
            </a:pPr>
            <a:r>
              <a:rPr b="0" sz="1350" i="0" u="none">
                <a:solidFill>
                  <a:srgbClr val="334155"/>
                </a:solidFill>
                <a:latin typeface="Inter"/>
              </a:rPr>
              <a:t>Eng. Abdelhameed benchmarked the thermodynamic solver, verifying calculated heat loads, LMTD, and required RPMs for modern inverter components.</a:t>
            </a:r>
          </a:p>
        </p:txBody>
      </p:sp>
      <p:pic>
        <p:nvPicPr>
          <p:cNvPr id="12" name="Picture 11" descr="image.png"/>
          <p:cNvPicPr>
            <a:picLocks noChangeAspect="1"/>
          </p:cNvPicPr>
          <p:nvPr/>
        </p:nvPicPr>
        <p:blipFill>
          <a:blip r:embed="rId6"/>
          <a:stretch>
            <a:fillRect/>
          </a:stretch>
        </p:blipFill>
        <p:spPr>
          <a:xfrm>
            <a:off x="2028825" y="2576512"/>
            <a:ext cx="514350" cy="457200"/>
          </a:xfrm>
          <a:prstGeom prst="rect">
            <a:avLst/>
          </a:prstGeom>
        </p:spPr>
      </p:pic>
      <p:pic>
        <p:nvPicPr>
          <p:cNvPr id="13" name="Picture 12" descr="image.png"/>
          <p:cNvPicPr>
            <a:picLocks noChangeAspect="1"/>
          </p:cNvPicPr>
          <p:nvPr/>
        </p:nvPicPr>
        <p:blipFill>
          <a:blip r:embed="rId7"/>
          <a:stretch>
            <a:fillRect/>
          </a:stretch>
        </p:blipFill>
        <p:spPr>
          <a:xfrm>
            <a:off x="5867400" y="2576512"/>
            <a:ext cx="457200" cy="457200"/>
          </a:xfrm>
          <a:prstGeom prst="rect">
            <a:avLst/>
          </a:prstGeom>
        </p:spPr>
      </p:pic>
      <p:pic>
        <p:nvPicPr>
          <p:cNvPr id="14" name="Picture 13" descr="image.png"/>
          <p:cNvPicPr>
            <a:picLocks noChangeAspect="1"/>
          </p:cNvPicPr>
          <p:nvPr/>
        </p:nvPicPr>
        <p:blipFill>
          <a:blip r:embed="rId8"/>
          <a:stretch>
            <a:fillRect/>
          </a:stretch>
        </p:blipFill>
        <p:spPr>
          <a:xfrm>
            <a:off x="9763125" y="2576512"/>
            <a:ext cx="285750" cy="457200"/>
          </a:xfrm>
          <a:prstGeom prst="rect">
            <a:avLst/>
          </a:prstGeom>
        </p:spPr>
      </p:pic>
      <p:sp>
        <p:nvSpPr>
          <p:cNvPr id="15" name="TextBox 14"/>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Institutional Validation</a:t>
            </a:r>
          </a:p>
        </p:txBody>
      </p:sp>
      <p:sp>
        <p:nvSpPr>
          <p:cNvPr id="16" name="Rectangle 15"/>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46064"/>
            <a:ext cx="11049000" cy="3333601"/>
          </a:xfrm>
          <a:prstGeom prst="rect">
            <a:avLst/>
          </a:prstGeom>
        </p:spPr>
      </p:pic>
      <p:sp>
        <p:nvSpPr>
          <p:cNvPr id="4" name="TextBox 3"/>
          <p:cNvSpPr txBox="1"/>
          <p:nvPr/>
        </p:nvSpPr>
        <p:spPr>
          <a:xfrm>
            <a:off x="1900237" y="5370165"/>
            <a:ext cx="8391525" cy="365670"/>
          </a:xfrm>
          <a:prstGeom prst="rect">
            <a:avLst/>
          </a:prstGeom>
          <a:noFill/>
        </p:spPr>
        <p:txBody>
          <a:bodyPr wrap="square" lIns="0" rIns="0" tIns="0" bIns="0" anchor="t">
            <a:spAutoFit/>
          </a:bodyPr>
          <a:lstStyle/>
          <a:p>
            <a:pPr algn="ctr">
              <a:lnSpc>
                <a:spcPts val="2879"/>
              </a:lnSpc>
            </a:pPr>
            <a:r>
              <a:rPr b="0" sz="1800" i="0" u="none">
                <a:solidFill>
                  <a:srgbClr val="475569"/>
                </a:solidFill>
                <a:latin typeface="Inter Medium"/>
              </a:rPr>
              <a:t>All geometric variances fall well within strict engineering tolerances (&lt; 0.5%).</a:t>
            </a:r>
          </a:p>
        </p:txBody>
      </p:sp>
      <p:graphicFrame>
        <p:nvGraphicFramePr>
          <p:cNvPr id="5" name="Table 4"/>
          <p:cNvGraphicFramePr>
            <a:graphicFrameLocks noGrp="1"/>
          </p:cNvGraphicFramePr>
          <p:nvPr/>
        </p:nvGraphicFramePr>
        <p:xfrm>
          <a:off x="581025" y="1855589"/>
          <a:ext cx="11029948" cy="3314551"/>
        </p:xfrm>
        <a:graphic>
          <a:graphicData uri="http://schemas.openxmlformats.org/drawingml/2006/table">
            <a:tbl>
              <a:tblPr firstRow="1" bandRow="1">
                <a:tableStyleId>{5C22544A-7EE6-4342-B048-85BDC9FD1C3A}</a:tableStyleId>
                <a:lnL>
                  <a:noFill/>
                </a:lnL>
                <a:lnR>
                  <a:noFill/>
                </a:lnR>
                <a:lnT>
                  <a:noFill/>
                </a:lnT>
                <a:lnB>
                  <a:noFill/>
                </a:lnB>
                <a:lnV>
                  <a:noFill/>
                </a:lnV>
                <a:lnH>
                  <a:noFill/>
                </a:lnH>
              </a:tblPr>
              <a:tblGrid>
                <a:gridCol w="2903190"/>
                <a:gridCol w="3346251"/>
                <a:gridCol w="2891432"/>
                <a:gridCol w="1889075"/>
              </a:tblGrid>
              <a:tr h="662910">
                <a:tc>
                  <a:txBody>
                    <a:bodyPr/>
                    <a:lstStyle/>
                    <a:p>
                      <a:pPr algn="l"/>
                      <a:r>
                        <a:rPr b="1" sz="1350" i="0" u="none">
                          <a:solidFill>
                            <a:srgbClr val="0F172A"/>
                          </a:solidFill>
                          <a:latin typeface="Montserrat"/>
                        </a:rPr>
                        <a:t>Metric</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F172A"/>
                          </a:solidFill>
                          <a:latin typeface="Montserrat"/>
                        </a:rPr>
                        <a:t>Official CAD Spec (SJ54H)</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F172A"/>
                          </a:solidFill>
                          <a:latin typeface="Montserrat"/>
                        </a:rPr>
                        <a:t>Solver Engine Output</a:t>
                      </a:r>
                    </a:p>
                  </a:txBody>
                  <a:tcPr anchor="ctr" marL="63500" marR="63500" marT="25400" marB="25400">
                    <a:lnL>
                      <a:noFill/>
                    </a:lnL>
                    <a:lnR>
                      <a:noFill/>
                    </a:lnR>
                    <a:lnT>
                      <a:noFill/>
                    </a:lnT>
                    <a:lnB>
                      <a:noFill/>
                    </a:lnB>
                    <a:solidFill>
                      <a:srgbClr val="F1F5F9"/>
                    </a:solidFill>
                  </a:tcPr>
                </a:tc>
                <a:tc>
                  <a:txBody>
                    <a:bodyPr/>
                    <a:lstStyle/>
                    <a:p>
                      <a:pPr algn="l"/>
                      <a:r>
                        <a:rPr b="1" sz="1350" i="0" u="none">
                          <a:solidFill>
                            <a:srgbClr val="0F172A"/>
                          </a:solidFill>
                          <a:latin typeface="Montserrat"/>
                        </a:rPr>
                        <a:t>Variance (%)</a:t>
                      </a:r>
                    </a:p>
                  </a:txBody>
                  <a:tcPr anchor="ctr" marL="63500" marR="63500" marT="25400" marB="25400">
                    <a:lnL>
                      <a:noFill/>
                    </a:lnL>
                    <a:lnR>
                      <a:noFill/>
                    </a:lnR>
                    <a:lnT>
                      <a:noFill/>
                    </a:lnT>
                    <a:lnB>
                      <a:noFill/>
                    </a:lnB>
                    <a:solidFill>
                      <a:srgbClr val="F1F5F9"/>
                    </a:solidFill>
                  </a:tcPr>
                </a:tc>
              </a:tr>
              <a:tr h="662910">
                <a:tc>
                  <a:txBody>
                    <a:bodyPr/>
                    <a:lstStyle/>
                    <a:p>
                      <a:pPr algn="l"/>
                      <a:r>
                        <a:rPr b="0" sz="1350" i="0" u="none">
                          <a:solidFill>
                            <a:srgbClr val="334155"/>
                          </a:solidFill>
                          <a:latin typeface="Inter"/>
                        </a:rPr>
                        <a:t>Gross Volume (L)</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431.2</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430.8</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&lt; 0.1%</a:t>
                      </a:r>
                    </a:p>
                  </a:txBody>
                  <a:tcPr anchor="ctr" marL="63500" marR="63500" marT="25400" marB="25400">
                    <a:lnL>
                      <a:noFill/>
                    </a:lnL>
                    <a:lnR>
                      <a:noFill/>
                    </a:lnR>
                    <a:lnT>
                      <a:noFill/>
                    </a:lnT>
                    <a:lnB>
                      <a:noFill/>
                    </a:lnB>
                    <a:noFill/>
                  </a:tcPr>
                </a:tc>
              </a:tr>
              <a:tr h="662910">
                <a:tc>
                  <a:txBody>
                    <a:bodyPr/>
                    <a:lstStyle/>
                    <a:p>
                      <a:pPr algn="l"/>
                      <a:r>
                        <a:rPr b="0" sz="1350" i="0" u="none">
                          <a:solidFill>
                            <a:srgbClr val="334155"/>
                          </a:solidFill>
                          <a:latin typeface="Inter"/>
                        </a:rPr>
                        <a:t>Net Volume (L)</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398.5</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399.1</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0.15%</a:t>
                      </a:r>
                    </a:p>
                  </a:txBody>
                  <a:tcPr anchor="ctr" marL="63500" marR="63500" marT="25400" marB="25400">
                    <a:lnL>
                      <a:noFill/>
                    </a:lnL>
                    <a:lnR>
                      <a:noFill/>
                    </a:lnR>
                    <a:lnT>
                      <a:noFill/>
                    </a:lnT>
                    <a:lnB>
                      <a:noFill/>
                    </a:lnB>
                    <a:solidFill>
                      <a:srgbClr val="F8FAFC"/>
                    </a:solidFill>
                  </a:tcPr>
                </a:tc>
              </a:tr>
              <a:tr h="662910">
                <a:tc>
                  <a:txBody>
                    <a:bodyPr/>
                    <a:lstStyle/>
                    <a:p>
                      <a:pPr algn="l"/>
                      <a:r>
                        <a:rPr b="0" sz="1350" i="0" u="none">
                          <a:solidFill>
                            <a:srgbClr val="334155"/>
                          </a:solidFill>
                          <a:latin typeface="Inter"/>
                        </a:rPr>
                        <a:t>Cabinet PU Weight (kg)</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7.82</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7.84</a:t>
                      </a:r>
                    </a:p>
                  </a:txBody>
                  <a:tcPr anchor="ctr" marL="63500" marR="63500" marT="25400" marB="25400">
                    <a:lnL>
                      <a:noFill/>
                    </a:lnL>
                    <a:lnR>
                      <a:noFill/>
                    </a:lnR>
                    <a:lnT>
                      <a:noFill/>
                    </a:lnT>
                    <a:lnB>
                      <a:noFill/>
                    </a:lnB>
                    <a:noFill/>
                  </a:tcPr>
                </a:tc>
                <a:tc>
                  <a:txBody>
                    <a:bodyPr/>
                    <a:lstStyle/>
                    <a:p>
                      <a:pPr algn="l"/>
                      <a:r>
                        <a:rPr b="0" sz="1350" i="0" u="none">
                          <a:solidFill>
                            <a:srgbClr val="334155"/>
                          </a:solidFill>
                          <a:latin typeface="Inter"/>
                        </a:rPr>
                        <a:t>0.25%</a:t>
                      </a:r>
                    </a:p>
                  </a:txBody>
                  <a:tcPr anchor="ctr" marL="63500" marR="63500" marT="25400" marB="25400">
                    <a:lnL>
                      <a:noFill/>
                    </a:lnL>
                    <a:lnR>
                      <a:noFill/>
                    </a:lnR>
                    <a:lnT>
                      <a:noFill/>
                    </a:lnT>
                    <a:lnB>
                      <a:noFill/>
                    </a:lnB>
                    <a:noFill/>
                  </a:tcPr>
                </a:tc>
              </a:tr>
              <a:tr h="662911">
                <a:tc>
                  <a:txBody>
                    <a:bodyPr/>
                    <a:lstStyle/>
                    <a:p>
                      <a:pPr algn="l"/>
                      <a:r>
                        <a:rPr b="0" sz="1350" i="0" u="none">
                          <a:solidFill>
                            <a:srgbClr val="334155"/>
                          </a:solidFill>
                          <a:latin typeface="Inter"/>
                        </a:rPr>
                        <a:t>Door PU Weight (kg)</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2.41</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2.42</a:t>
                      </a:r>
                    </a:p>
                  </a:txBody>
                  <a:tcPr anchor="ctr" marL="63500" marR="63500" marT="25400" marB="25400">
                    <a:lnL>
                      <a:noFill/>
                    </a:lnL>
                    <a:lnR>
                      <a:noFill/>
                    </a:lnR>
                    <a:lnT>
                      <a:noFill/>
                    </a:lnT>
                    <a:lnB>
                      <a:noFill/>
                    </a:lnB>
                    <a:solidFill>
                      <a:srgbClr val="F8FAFC"/>
                    </a:solidFill>
                  </a:tcPr>
                </a:tc>
                <a:tc>
                  <a:txBody>
                    <a:bodyPr/>
                    <a:lstStyle/>
                    <a:p>
                      <a:pPr algn="l"/>
                      <a:r>
                        <a:rPr b="0" sz="1350" i="0" u="none">
                          <a:solidFill>
                            <a:srgbClr val="334155"/>
                          </a:solidFill>
                          <a:latin typeface="Inter"/>
                        </a:rPr>
                        <a:t>0.4%</a:t>
                      </a:r>
                    </a:p>
                  </a:txBody>
                  <a:tcPr anchor="ctr" marL="63500" marR="63500" marT="25400" marB="25400">
                    <a:lnL>
                      <a:noFill/>
                    </a:lnL>
                    <a:lnR>
                      <a:noFill/>
                    </a:lnR>
                    <a:lnT>
                      <a:noFill/>
                    </a:lnT>
                    <a:lnB>
                      <a:noFill/>
                    </a:lnB>
                    <a:solidFill>
                      <a:srgbClr val="F8FAFC"/>
                    </a:solidFill>
                  </a:tcPr>
                </a:tc>
              </a:tr>
            </a:tbl>
          </a:graphicData>
        </a:graphic>
      </p:graphicFrame>
      <p:sp>
        <p:nvSpPr>
          <p:cNvPr id="6" name="Rectangle 5"/>
          <p:cNvSpPr/>
          <p:nvPr/>
        </p:nvSpPr>
        <p:spPr>
          <a:xfrm>
            <a:off x="581025" y="2506116"/>
            <a:ext cx="29031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84215" y="2506116"/>
            <a:ext cx="33462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30466" y="2506116"/>
            <a:ext cx="28914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721899" y="2506116"/>
            <a:ext cx="18890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1025" y="3170932"/>
            <a:ext cx="29031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84215" y="3170932"/>
            <a:ext cx="33462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30466" y="3170932"/>
            <a:ext cx="28914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721899" y="3170932"/>
            <a:ext cx="18890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1025" y="3835747"/>
            <a:ext cx="29031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84215" y="3835747"/>
            <a:ext cx="33462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30466" y="3835747"/>
            <a:ext cx="28914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21899" y="3835747"/>
            <a:ext cx="18890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1025" y="4500562"/>
            <a:ext cx="290319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84215" y="4500562"/>
            <a:ext cx="3346251"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30466" y="4500562"/>
            <a:ext cx="2891432"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21899" y="4500562"/>
            <a:ext cx="188907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Geometric Validation</a:t>
            </a:r>
          </a:p>
        </p:txBody>
      </p:sp>
      <p:sp>
        <p:nvSpPr>
          <p:cNvPr id="23" name="Rectangle 22"/>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591817"/>
            <a:ext cx="11049000" cy="921990"/>
          </a:xfrm>
          <a:prstGeom prst="rect">
            <a:avLst/>
          </a:prstGeom>
        </p:spPr>
      </p:pic>
      <p:pic>
        <p:nvPicPr>
          <p:cNvPr id="4" name="Picture 3" descr="image.png"/>
          <p:cNvPicPr>
            <a:picLocks noChangeAspect="1"/>
          </p:cNvPicPr>
          <p:nvPr/>
        </p:nvPicPr>
        <p:blipFill>
          <a:blip r:embed="rId4"/>
          <a:stretch>
            <a:fillRect/>
          </a:stretch>
        </p:blipFill>
        <p:spPr>
          <a:xfrm>
            <a:off x="571500" y="1485900"/>
            <a:ext cx="11049000" cy="4800600"/>
          </a:xfrm>
          <a:prstGeom prst="rect">
            <a:avLst/>
          </a:prstGeom>
        </p:spPr>
      </p:pic>
      <p:sp>
        <p:nvSpPr>
          <p:cNvPr id="5" name="TextBox 4"/>
          <p:cNvSpPr txBox="1"/>
          <p:nvPr/>
        </p:nvSpPr>
        <p:spPr>
          <a:xfrm>
            <a:off x="571500" y="4799558"/>
            <a:ext cx="11049000" cy="548580"/>
          </a:xfrm>
          <a:prstGeom prst="rect">
            <a:avLst/>
          </a:prstGeom>
          <a:noFill/>
        </p:spPr>
        <p:txBody>
          <a:bodyPr wrap="square" lIns="0" rIns="0" tIns="0" bIns="0" anchor="t">
            <a:spAutoFit/>
          </a:bodyPr>
          <a:lstStyle/>
          <a:p>
            <a:pPr algn="ctr">
              <a:lnSpc>
                <a:spcPts val="2160"/>
              </a:lnSpc>
            </a:pPr>
            <a:r>
              <a:rPr b="0" sz="1350" i="0" u="none">
                <a:solidFill>
                  <a:srgbClr val="334155"/>
                </a:solidFill>
                <a:latin typeface="Inter Medium"/>
              </a:rPr>
              <a:t>Because the thermal engine relies on exact geometric inputs directly from the volume module, we eliminate data-transfer errors between mechanical and thermal analysis workflows.</a:t>
            </a:r>
          </a:p>
        </p:txBody>
      </p:sp>
      <p:pic>
        <p:nvPicPr>
          <p:cNvPr id="6" name="Picture 5" descr="image.png"/>
          <p:cNvPicPr>
            <a:picLocks noChangeAspect="1"/>
          </p:cNvPicPr>
          <p:nvPr/>
        </p:nvPicPr>
        <p:blipFill>
          <a:blip r:embed="rId5"/>
          <a:stretch>
            <a:fillRect/>
          </a:stretch>
        </p:blipFill>
        <p:spPr>
          <a:xfrm>
            <a:off x="771525" y="3791842"/>
            <a:ext cx="10648950" cy="521940"/>
          </a:xfrm>
          <a:prstGeom prst="rect">
            <a:avLst/>
          </a:prstGeom>
        </p:spPr>
      </p:pic>
      <p:sp>
        <p:nvSpPr>
          <p:cNvPr id="7" name="TextBox 6"/>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Thermal Accuracy</a:t>
            </a:r>
          </a:p>
        </p:txBody>
      </p:sp>
      <p:sp>
        <p:nvSpPr>
          <p:cNvPr id="8" name="Rectangle 7"/>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794569"/>
            <a:ext cx="3429000" cy="4183260"/>
          </a:xfrm>
          <a:prstGeom prst="rect">
            <a:avLst/>
          </a:prstGeom>
        </p:spPr>
      </p:pic>
      <p:pic>
        <p:nvPicPr>
          <p:cNvPr id="4" name="Picture 3" descr="image.png"/>
          <p:cNvPicPr>
            <a:picLocks noChangeAspect="1"/>
          </p:cNvPicPr>
          <p:nvPr/>
        </p:nvPicPr>
        <p:blipFill>
          <a:blip r:embed="rId4"/>
          <a:stretch>
            <a:fillRect/>
          </a:stretch>
        </p:blipFill>
        <p:spPr>
          <a:xfrm>
            <a:off x="4381500" y="1794569"/>
            <a:ext cx="3429000" cy="4183260"/>
          </a:xfrm>
          <a:prstGeom prst="rect">
            <a:avLst/>
          </a:prstGeom>
        </p:spPr>
      </p:pic>
      <p:pic>
        <p:nvPicPr>
          <p:cNvPr id="5" name="Picture 4" descr="image.png"/>
          <p:cNvPicPr>
            <a:picLocks noChangeAspect="1"/>
          </p:cNvPicPr>
          <p:nvPr/>
        </p:nvPicPr>
        <p:blipFill>
          <a:blip r:embed="rId5"/>
          <a:stretch>
            <a:fillRect/>
          </a:stretch>
        </p:blipFill>
        <p:spPr>
          <a:xfrm>
            <a:off x="8191500" y="1794569"/>
            <a:ext cx="3429000" cy="4183260"/>
          </a:xfrm>
          <a:prstGeom prst="rect">
            <a:avLst/>
          </a:prstGeom>
        </p:spPr>
      </p:pic>
      <p:pic>
        <p:nvPicPr>
          <p:cNvPr id="6" name="Picture 5" descr="image.png"/>
          <p:cNvPicPr>
            <a:picLocks noChangeAspect="1"/>
          </p:cNvPicPr>
          <p:nvPr/>
        </p:nvPicPr>
        <p:blipFill>
          <a:blip r:embed="rId6"/>
          <a:stretch>
            <a:fillRect/>
          </a:stretch>
        </p:blipFill>
        <p:spPr>
          <a:xfrm>
            <a:off x="771525" y="1994594"/>
            <a:ext cx="3028950" cy="1905000"/>
          </a:xfrm>
          <a:prstGeom prst="rect">
            <a:avLst/>
          </a:prstGeom>
        </p:spPr>
      </p:pic>
      <p:pic>
        <p:nvPicPr>
          <p:cNvPr id="7" name="Picture 6" descr="image.png"/>
          <p:cNvPicPr>
            <a:picLocks noChangeAspect="1"/>
          </p:cNvPicPr>
          <p:nvPr/>
        </p:nvPicPr>
        <p:blipFill>
          <a:blip r:embed="rId7"/>
          <a:stretch>
            <a:fillRect/>
          </a:stretch>
        </p:blipFill>
        <p:spPr>
          <a:xfrm>
            <a:off x="4581525" y="1994594"/>
            <a:ext cx="3028950" cy="1905000"/>
          </a:xfrm>
          <a:prstGeom prst="rect">
            <a:avLst/>
          </a:prstGeom>
        </p:spPr>
      </p:pic>
      <p:pic>
        <p:nvPicPr>
          <p:cNvPr id="8" name="Picture 7" descr="image.png"/>
          <p:cNvPicPr>
            <a:picLocks noChangeAspect="1"/>
          </p:cNvPicPr>
          <p:nvPr/>
        </p:nvPicPr>
        <p:blipFill>
          <a:blip r:embed="rId8"/>
          <a:stretch>
            <a:fillRect/>
          </a:stretch>
        </p:blipFill>
        <p:spPr>
          <a:xfrm>
            <a:off x="8391525" y="1994594"/>
            <a:ext cx="3028950" cy="1905000"/>
          </a:xfrm>
          <a:prstGeom prst="rect">
            <a:avLst/>
          </a:prstGeom>
        </p:spPr>
      </p:pic>
      <p:sp>
        <p:nvSpPr>
          <p:cNvPr id="9" name="TextBox 8"/>
          <p:cNvSpPr txBox="1"/>
          <p:nvPr/>
        </p:nvSpPr>
        <p:spPr>
          <a:xfrm>
            <a:off x="771525" y="4090094"/>
            <a:ext cx="3180397" cy="304800"/>
          </a:xfrm>
          <a:prstGeom prst="rect">
            <a:avLst/>
          </a:prstGeom>
          <a:noFill/>
        </p:spPr>
        <p:txBody>
          <a:bodyPr wrap="square" lIns="0" rIns="0" tIns="0" bIns="0" anchor="t">
            <a:spAutoFit/>
          </a:bodyPr>
          <a:lstStyle/>
          <a:p>
            <a:pPr algn="l"/>
            <a:r>
              <a:rPr b="0" sz="1950" i="0" u="none">
                <a:solidFill>
                  <a:srgbClr val="1E40AF"/>
                </a:solidFill>
                <a:latin typeface="Montserrat SemiBold"/>
              </a:rPr>
              <a:t>1. Load Baseline</a:t>
            </a:r>
          </a:p>
        </p:txBody>
      </p:sp>
      <p:sp>
        <p:nvSpPr>
          <p:cNvPr id="10" name="TextBox 9"/>
          <p:cNvSpPr txBox="1"/>
          <p:nvPr/>
        </p:nvSpPr>
        <p:spPr>
          <a:xfrm>
            <a:off x="771525" y="4537769"/>
            <a:ext cx="3028950" cy="1097160"/>
          </a:xfrm>
          <a:prstGeom prst="rect">
            <a:avLst/>
          </a:prstGeom>
          <a:noFill/>
        </p:spPr>
        <p:txBody>
          <a:bodyPr wrap="square" lIns="0" rIns="0" tIns="0" bIns="0" anchor="t">
            <a:spAutoFit/>
          </a:bodyPr>
          <a:lstStyle/>
          <a:p>
            <a:pPr algn="l">
              <a:lnSpc>
                <a:spcPts val="2160"/>
              </a:lnSpc>
            </a:pPr>
            <a:r>
              <a:rPr b="0" sz="1350" i="0" u="none">
                <a:solidFill>
                  <a:srgbClr val="334155"/>
                </a:solidFill>
                <a:latin typeface="Inter"/>
              </a:rPr>
              <a:t>Instantly compute precise volumes and polyurethane weights from unified cabinet geometry parameters.</a:t>
            </a:r>
          </a:p>
        </p:txBody>
      </p:sp>
      <p:sp>
        <p:nvSpPr>
          <p:cNvPr id="11" name="TextBox 10"/>
          <p:cNvSpPr txBox="1"/>
          <p:nvPr/>
        </p:nvSpPr>
        <p:spPr>
          <a:xfrm>
            <a:off x="4581525" y="4090094"/>
            <a:ext cx="3180397" cy="304800"/>
          </a:xfrm>
          <a:prstGeom prst="rect">
            <a:avLst/>
          </a:prstGeom>
          <a:noFill/>
        </p:spPr>
        <p:txBody>
          <a:bodyPr wrap="square" lIns="0" rIns="0" tIns="0" bIns="0" anchor="t">
            <a:spAutoFit/>
          </a:bodyPr>
          <a:lstStyle/>
          <a:p>
            <a:pPr algn="l"/>
            <a:r>
              <a:rPr b="0" sz="1950" i="0" u="none">
                <a:solidFill>
                  <a:srgbClr val="1E40AF"/>
                </a:solidFill>
                <a:latin typeface="Montserrat SemiBold"/>
              </a:rPr>
              <a:t>2. Run Thermal</a:t>
            </a:r>
          </a:p>
        </p:txBody>
      </p:sp>
      <p:sp>
        <p:nvSpPr>
          <p:cNvPr id="12" name="TextBox 11"/>
          <p:cNvSpPr txBox="1"/>
          <p:nvPr/>
        </p:nvSpPr>
        <p:spPr>
          <a:xfrm>
            <a:off x="4581525" y="4537769"/>
            <a:ext cx="3028950" cy="822870"/>
          </a:xfrm>
          <a:prstGeom prst="rect">
            <a:avLst/>
          </a:prstGeom>
          <a:noFill/>
        </p:spPr>
        <p:txBody>
          <a:bodyPr wrap="square" lIns="0" rIns="0" tIns="0" bIns="0" anchor="t">
            <a:spAutoFit/>
          </a:bodyPr>
          <a:lstStyle/>
          <a:p>
            <a:pPr algn="l">
              <a:lnSpc>
                <a:spcPts val="2160"/>
              </a:lnSpc>
            </a:pPr>
            <a:r>
              <a:rPr b="0" sz="1350" i="0" u="none">
                <a:solidFill>
                  <a:srgbClr val="334155"/>
                </a:solidFill>
                <a:latin typeface="Inter"/>
              </a:rPr>
              <a:t>Solve dynamic operating points, calculate heat loads, and determine the exact Energy Ranking.</a:t>
            </a:r>
          </a:p>
        </p:txBody>
      </p:sp>
      <p:sp>
        <p:nvSpPr>
          <p:cNvPr id="13" name="TextBox 12"/>
          <p:cNvSpPr txBox="1"/>
          <p:nvPr/>
        </p:nvSpPr>
        <p:spPr>
          <a:xfrm>
            <a:off x="8391525" y="4090094"/>
            <a:ext cx="3180397" cy="304800"/>
          </a:xfrm>
          <a:prstGeom prst="rect">
            <a:avLst/>
          </a:prstGeom>
          <a:noFill/>
        </p:spPr>
        <p:txBody>
          <a:bodyPr wrap="square" lIns="0" rIns="0" tIns="0" bIns="0" anchor="t">
            <a:spAutoFit/>
          </a:bodyPr>
          <a:lstStyle/>
          <a:p>
            <a:pPr algn="l"/>
            <a:r>
              <a:rPr b="0" sz="1950" i="0" u="none">
                <a:solidFill>
                  <a:srgbClr val="1E40AF"/>
                </a:solidFill>
                <a:latin typeface="Montserrat SemiBold"/>
              </a:rPr>
              <a:t>3. Parametric Sweep</a:t>
            </a:r>
          </a:p>
        </p:txBody>
      </p:sp>
      <p:sp>
        <p:nvSpPr>
          <p:cNvPr id="14" name="TextBox 13"/>
          <p:cNvSpPr txBox="1"/>
          <p:nvPr/>
        </p:nvSpPr>
        <p:spPr>
          <a:xfrm>
            <a:off x="8391525" y="4537769"/>
            <a:ext cx="3028950" cy="1097160"/>
          </a:xfrm>
          <a:prstGeom prst="rect">
            <a:avLst/>
          </a:prstGeom>
          <a:noFill/>
        </p:spPr>
        <p:txBody>
          <a:bodyPr wrap="square" lIns="0" rIns="0" tIns="0" bIns="0" anchor="t">
            <a:spAutoFit/>
          </a:bodyPr>
          <a:lstStyle/>
          <a:p>
            <a:pPr algn="l">
              <a:lnSpc>
                <a:spcPts val="2160"/>
              </a:lnSpc>
            </a:pPr>
            <a:r>
              <a:rPr b="0" sz="1350" i="0" u="none">
                <a:solidFill>
                  <a:srgbClr val="334155"/>
                </a:solidFill>
                <a:latin typeface="Inter"/>
              </a:rPr>
              <a:t>Sweep variables (e.g., adding 10mm insulation) to instantly graph the impact on usable volume vs. energy cost.</a:t>
            </a:r>
          </a:p>
        </p:txBody>
      </p:sp>
      <p:pic>
        <p:nvPicPr>
          <p:cNvPr id="15" name="Picture 14" descr="image.png"/>
          <p:cNvPicPr>
            <a:picLocks noChangeAspect="1"/>
          </p:cNvPicPr>
          <p:nvPr/>
        </p:nvPicPr>
        <p:blipFill>
          <a:blip r:embed="rId9"/>
          <a:stretch>
            <a:fillRect/>
          </a:stretch>
        </p:blipFill>
        <p:spPr>
          <a:xfrm>
            <a:off x="781050" y="2004119"/>
            <a:ext cx="3009900" cy="1885950"/>
          </a:xfrm>
          <a:prstGeom prst="rect">
            <a:avLst/>
          </a:prstGeom>
        </p:spPr>
      </p:pic>
      <p:pic>
        <p:nvPicPr>
          <p:cNvPr id="16" name="Picture 15" descr="image.png"/>
          <p:cNvPicPr>
            <a:picLocks noChangeAspect="1"/>
          </p:cNvPicPr>
          <p:nvPr/>
        </p:nvPicPr>
        <p:blipFill>
          <a:blip r:embed="rId10"/>
          <a:stretch>
            <a:fillRect/>
          </a:stretch>
        </p:blipFill>
        <p:spPr>
          <a:xfrm>
            <a:off x="4591050" y="2004119"/>
            <a:ext cx="3009900" cy="1885950"/>
          </a:xfrm>
          <a:prstGeom prst="rect">
            <a:avLst/>
          </a:prstGeom>
        </p:spPr>
      </p:pic>
      <p:pic>
        <p:nvPicPr>
          <p:cNvPr id="17" name="Picture 16" descr="image.png"/>
          <p:cNvPicPr>
            <a:picLocks noChangeAspect="1"/>
          </p:cNvPicPr>
          <p:nvPr/>
        </p:nvPicPr>
        <p:blipFill>
          <a:blip r:embed="rId11"/>
          <a:stretch>
            <a:fillRect/>
          </a:stretch>
        </p:blipFill>
        <p:spPr>
          <a:xfrm>
            <a:off x="8401050" y="2004119"/>
            <a:ext cx="3009900" cy="1885950"/>
          </a:xfrm>
          <a:prstGeom prst="rect">
            <a:avLst/>
          </a:prstGeom>
        </p:spPr>
      </p:pic>
      <p:sp>
        <p:nvSpPr>
          <p:cNvPr id="18" name="TextBox 17"/>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Workflow Demonstration</a:t>
            </a:r>
          </a:p>
        </p:txBody>
      </p:sp>
      <p:sp>
        <p:nvSpPr>
          <p:cNvPr id="19" name="Rectangle 18"/>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809750" y="2568922"/>
            <a:ext cx="9048750" cy="548580"/>
          </a:xfrm>
          <a:prstGeom prst="rect">
            <a:avLst/>
          </a:prstGeom>
          <a:noFill/>
        </p:spPr>
        <p:txBody>
          <a:bodyPr wrap="square" lIns="0" rIns="0" tIns="0" bIns="0" anchor="t">
            <a:spAutoFit/>
          </a:bodyPr>
          <a:lstStyle/>
          <a:p>
            <a:pPr algn="l">
              <a:lnSpc>
                <a:spcPts val="2160"/>
              </a:lnSpc>
            </a:pPr>
            <a:r>
              <a:rPr b="1" sz="1350" i="0" u="none">
                <a:solidFill>
                  <a:srgbClr val="0F172A"/>
                </a:solidFill>
                <a:latin typeface="Inter"/>
              </a:rPr>
              <a:t>Decoupled Architecture:</a:t>
            </a:r>
            <a:r>
              <a:rPr b="0" sz="1350" i="0" u="none">
                <a:solidFill>
                  <a:srgbClr val="334155"/>
                </a:solidFill>
                <a:latin typeface="Inter"/>
              </a:rPr>
              <a:t> Built on standard, secure web technologies (HTML/JS/CSS). The calculation logic is fully decoupled from the UI, well-documented, and requires no proprietary server licenses.</a:t>
            </a:r>
          </a:p>
        </p:txBody>
      </p:sp>
      <p:sp>
        <p:nvSpPr>
          <p:cNvPr id="4" name="TextBox 3"/>
          <p:cNvSpPr txBox="1"/>
          <p:nvPr/>
        </p:nvSpPr>
        <p:spPr>
          <a:xfrm>
            <a:off x="1809750" y="3355627"/>
            <a:ext cx="9048750" cy="548580"/>
          </a:xfrm>
          <a:prstGeom prst="rect">
            <a:avLst/>
          </a:prstGeom>
          <a:noFill/>
        </p:spPr>
        <p:txBody>
          <a:bodyPr wrap="square" lIns="0" rIns="0" tIns="0" bIns="0" anchor="t">
            <a:spAutoFit/>
          </a:bodyPr>
          <a:lstStyle/>
          <a:p>
            <a:pPr algn="l">
              <a:lnSpc>
                <a:spcPts val="2160"/>
              </a:lnSpc>
            </a:pPr>
            <a:r>
              <a:rPr b="1" sz="1350" i="0" u="none">
                <a:solidFill>
                  <a:srgbClr val="0F172A"/>
                </a:solidFill>
                <a:latin typeface="Inter"/>
              </a:rPr>
              <a:t>Upfront Optimization:</a:t>
            </a:r>
            <a:r>
              <a:rPr b="0" sz="1350" i="0" u="none">
                <a:solidFill>
                  <a:srgbClr val="334155"/>
                </a:solidFill>
                <a:latin typeface="Inter"/>
              </a:rPr>
              <a:t> This does not replace our final CAD or physical thermal testing protocols. It simply ensures the prototype we invest in building is mathematically the right one, shifting optimization left.</a:t>
            </a:r>
          </a:p>
        </p:txBody>
      </p:sp>
      <p:sp>
        <p:nvSpPr>
          <p:cNvPr id="5" name="TextBox 4"/>
          <p:cNvSpPr txBox="1"/>
          <p:nvPr/>
        </p:nvSpPr>
        <p:spPr>
          <a:xfrm>
            <a:off x="1809750" y="4142333"/>
            <a:ext cx="9048750" cy="822870"/>
          </a:xfrm>
          <a:prstGeom prst="rect">
            <a:avLst/>
          </a:prstGeom>
          <a:noFill/>
        </p:spPr>
        <p:txBody>
          <a:bodyPr wrap="square" lIns="0" rIns="0" tIns="0" bIns="0" anchor="t">
            <a:spAutoFit/>
          </a:bodyPr>
          <a:lstStyle/>
          <a:p>
            <a:pPr algn="l">
              <a:lnSpc>
                <a:spcPts val="2160"/>
              </a:lnSpc>
            </a:pPr>
            <a:r>
              <a:rPr b="1" sz="1350" i="0" u="none">
                <a:solidFill>
                  <a:srgbClr val="0F172A"/>
                </a:solidFill>
                <a:latin typeface="Inter"/>
              </a:rPr>
              <a:t>Dynamic Compressor Ingestion:</a:t>
            </a:r>
            <a:r>
              <a:rPr b="0" sz="1350" i="0" u="none">
                <a:solidFill>
                  <a:srgbClr val="334155"/>
                </a:solidFill>
                <a:latin typeface="Inter"/>
              </a:rPr>
              <a:t> We are not locked into hardcoded components. The tool features a custom ingestion engine to upload CSV data from any supplier, automatically fitting mathematical curves via regression.</a:t>
            </a:r>
          </a:p>
        </p:txBody>
      </p:sp>
      <p:pic>
        <p:nvPicPr>
          <p:cNvPr id="6" name="Picture 5" descr="image.png"/>
          <p:cNvPicPr>
            <a:picLocks noChangeAspect="1"/>
          </p:cNvPicPr>
          <p:nvPr/>
        </p:nvPicPr>
        <p:blipFill>
          <a:blip r:embed="rId3"/>
          <a:stretch>
            <a:fillRect/>
          </a:stretch>
        </p:blipFill>
        <p:spPr>
          <a:xfrm>
            <a:off x="1333500" y="2583209"/>
            <a:ext cx="266700" cy="276225"/>
          </a:xfrm>
          <a:prstGeom prst="rect">
            <a:avLst/>
          </a:prstGeom>
        </p:spPr>
      </p:pic>
      <p:pic>
        <p:nvPicPr>
          <p:cNvPr id="7" name="Picture 6" descr="image.png"/>
          <p:cNvPicPr>
            <a:picLocks noChangeAspect="1"/>
          </p:cNvPicPr>
          <p:nvPr/>
        </p:nvPicPr>
        <p:blipFill>
          <a:blip r:embed="rId4"/>
          <a:stretch>
            <a:fillRect/>
          </a:stretch>
        </p:blipFill>
        <p:spPr>
          <a:xfrm>
            <a:off x="1333500" y="3369915"/>
            <a:ext cx="266700" cy="276225"/>
          </a:xfrm>
          <a:prstGeom prst="rect">
            <a:avLst/>
          </a:prstGeom>
        </p:spPr>
      </p:pic>
      <p:pic>
        <p:nvPicPr>
          <p:cNvPr id="8" name="Picture 7" descr="image.png"/>
          <p:cNvPicPr>
            <a:picLocks noChangeAspect="1"/>
          </p:cNvPicPr>
          <p:nvPr/>
        </p:nvPicPr>
        <p:blipFill>
          <a:blip r:embed="rId5"/>
          <a:stretch>
            <a:fillRect/>
          </a:stretch>
        </p:blipFill>
        <p:spPr>
          <a:xfrm>
            <a:off x="1333500" y="4156620"/>
            <a:ext cx="238125" cy="276225"/>
          </a:xfrm>
          <a:prstGeom prst="rect">
            <a:avLst/>
          </a:prstGeom>
        </p:spPr>
      </p:pic>
      <p:sp>
        <p:nvSpPr>
          <p:cNvPr id="9" name="TextBox 8"/>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Sustainability &amp; Security</a:t>
            </a:r>
          </a:p>
        </p:txBody>
      </p:sp>
      <p:sp>
        <p:nvSpPr>
          <p:cNvPr id="10" name="Rectangle 9"/>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2094607"/>
            <a:ext cx="11601450" cy="923925"/>
          </a:xfrm>
          <a:prstGeom prst="rect">
            <a:avLst/>
          </a:prstGeom>
          <a:noFill/>
        </p:spPr>
        <p:txBody>
          <a:bodyPr wrap="square" lIns="0" rIns="0" tIns="0" bIns="0" anchor="t">
            <a:spAutoFit/>
          </a:bodyPr>
          <a:lstStyle/>
          <a:p>
            <a:pPr algn="ctr"/>
            <a:r>
              <a:rPr b="1" sz="6000" i="0" u="none">
                <a:solidFill>
                  <a:srgbClr val="1E40AF"/>
                </a:solidFill>
                <a:latin typeface="Montserrat"/>
              </a:rPr>
              <a:t>Next Steps</a:t>
            </a:r>
          </a:p>
        </p:txBody>
      </p:sp>
      <p:sp>
        <p:nvSpPr>
          <p:cNvPr id="4" name="TextBox 3"/>
          <p:cNvSpPr txBox="1"/>
          <p:nvPr/>
        </p:nvSpPr>
        <p:spPr>
          <a:xfrm>
            <a:off x="571500" y="3209032"/>
            <a:ext cx="11049000" cy="792360"/>
          </a:xfrm>
          <a:prstGeom prst="rect">
            <a:avLst/>
          </a:prstGeom>
          <a:noFill/>
        </p:spPr>
        <p:txBody>
          <a:bodyPr wrap="square" lIns="0" rIns="0" tIns="0" bIns="0" anchor="t">
            <a:spAutoFit/>
          </a:bodyPr>
          <a:lstStyle/>
          <a:p>
            <a:pPr algn="ctr">
              <a:lnSpc>
                <a:spcPts val="3120"/>
              </a:lnSpc>
            </a:pPr>
            <a:r>
              <a:rPr b="0" sz="1950" i="0" u="none">
                <a:solidFill>
                  <a:srgbClr val="334155"/>
                </a:solidFill>
                <a:latin typeface="Inter"/>
              </a:rPr>
              <a:t>Our proposed next step is a beta-rollout to the design team for the upcoming model, running the solver in parallel with current methods to definitively prove time savings.</a:t>
            </a:r>
          </a:p>
        </p:txBody>
      </p:sp>
      <p:sp>
        <p:nvSpPr>
          <p:cNvPr id="5" name="TextBox 4"/>
          <p:cNvSpPr txBox="1"/>
          <p:nvPr/>
        </p:nvSpPr>
        <p:spPr>
          <a:xfrm>
            <a:off x="571500" y="4572892"/>
            <a:ext cx="11049000" cy="190500"/>
          </a:xfrm>
          <a:prstGeom prst="rect">
            <a:avLst/>
          </a:prstGeom>
          <a:noFill/>
        </p:spPr>
        <p:txBody>
          <a:bodyPr wrap="square" lIns="0" rIns="0" tIns="0" bIns="0" anchor="t">
            <a:spAutoFit/>
          </a:bodyPr>
          <a:lstStyle/>
          <a:p>
            <a:pPr algn="ctr"/>
            <a:r>
              <a:rPr b="1" sz="1200" i="0" u="none">
                <a:solidFill>
                  <a:srgbClr val="000000"/>
                </a:solidFill>
                <a:latin typeface="Inter"/>
              </a:rPr>
              <a:t>Any specific areas of the calculation engine you'd like us to detail further?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571500" y="2222301"/>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71500" y="3007072"/>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71500" y="3791842"/>
            <a:ext cx="1104900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71500" y="299754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1500" y="299754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71500" y="378231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71500" y="3782317"/>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1500" y="456708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71500" y="4567088"/>
            <a:ext cx="1104900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3"/>
          <a:stretch>
            <a:fillRect/>
          </a:stretch>
        </p:blipFill>
        <p:spPr>
          <a:xfrm>
            <a:off x="571500" y="2371725"/>
            <a:ext cx="857250" cy="476250"/>
          </a:xfrm>
          <a:prstGeom prst="rect">
            <a:avLst/>
          </a:prstGeom>
        </p:spPr>
      </p:pic>
      <p:sp>
        <p:nvSpPr>
          <p:cNvPr id="13" name="TextBox 12"/>
          <p:cNvSpPr txBox="1"/>
          <p:nvPr/>
        </p:nvSpPr>
        <p:spPr>
          <a:xfrm>
            <a:off x="1666875" y="2365176"/>
            <a:ext cx="9953625" cy="198090"/>
          </a:xfrm>
          <a:prstGeom prst="rect">
            <a:avLst/>
          </a:prstGeom>
          <a:noFill/>
        </p:spPr>
        <p:txBody>
          <a:bodyPr wrap="square" lIns="0" rIns="0" tIns="0" bIns="0" anchor="t">
            <a:spAutoFit/>
          </a:bodyPr>
          <a:lstStyle/>
          <a:p>
            <a:pPr algn="l">
              <a:lnSpc>
                <a:spcPts val="1560"/>
              </a:lnSpc>
            </a:pPr>
            <a:r>
              <a:rPr b="0" sz="975" i="0" u="none">
                <a:solidFill>
                  <a:srgbClr val="334155"/>
                </a:solidFill>
                <a:latin typeface="Inter"/>
              </a:rPr>
              <a:t>https://cdn.prod.website-files.com/67af3db5bb3b892e61258bd4/6a0ce3d165569c8f89efd669_337-guide-to-dashboard-reporting.png</a:t>
            </a:r>
          </a:p>
        </p:txBody>
      </p:sp>
      <p:sp>
        <p:nvSpPr>
          <p:cNvPr id="14" name="TextBox 13"/>
          <p:cNvSpPr txBox="1"/>
          <p:nvPr/>
        </p:nvSpPr>
        <p:spPr>
          <a:xfrm>
            <a:off x="1666875" y="2610891"/>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Source: </a:t>
            </a:r>
            <a:r>
              <a:rPr b="0" sz="1200" i="0" u="none">
                <a:solidFill>
                  <a:srgbClr val="4F46E5"/>
                </a:solidFill>
                <a:latin typeface="Inter"/>
              </a:rPr>
              <a:t>www.domo.com</a:t>
            </a:r>
          </a:p>
        </p:txBody>
      </p:sp>
      <p:pic>
        <p:nvPicPr>
          <p:cNvPr id="15" name="Picture 14" descr="image.png"/>
          <p:cNvPicPr>
            <a:picLocks noChangeAspect="1"/>
          </p:cNvPicPr>
          <p:nvPr/>
        </p:nvPicPr>
        <p:blipFill>
          <a:blip r:embed="rId4"/>
          <a:stretch>
            <a:fillRect/>
          </a:stretch>
        </p:blipFill>
        <p:spPr>
          <a:xfrm>
            <a:off x="571500" y="3156495"/>
            <a:ext cx="857250" cy="476250"/>
          </a:xfrm>
          <a:prstGeom prst="rect">
            <a:avLst/>
          </a:prstGeom>
        </p:spPr>
      </p:pic>
      <p:sp>
        <p:nvSpPr>
          <p:cNvPr id="16" name="TextBox 15"/>
          <p:cNvSpPr txBox="1"/>
          <p:nvPr/>
        </p:nvSpPr>
        <p:spPr>
          <a:xfrm>
            <a:off x="1666875" y="3149947"/>
            <a:ext cx="9953625" cy="198090"/>
          </a:xfrm>
          <a:prstGeom prst="rect">
            <a:avLst/>
          </a:prstGeom>
          <a:noFill/>
        </p:spPr>
        <p:txBody>
          <a:bodyPr wrap="square" lIns="0" rIns="0" tIns="0" bIns="0" anchor="t">
            <a:spAutoFit/>
          </a:bodyPr>
          <a:lstStyle/>
          <a:p>
            <a:pPr algn="l">
              <a:lnSpc>
                <a:spcPts val="1560"/>
              </a:lnSpc>
            </a:pPr>
            <a:r>
              <a:rPr b="0" sz="975" i="0" u="none">
                <a:solidFill>
                  <a:srgbClr val="334155"/>
                </a:solidFill>
                <a:latin typeface="Inter"/>
              </a:rPr>
              <a:t>https://www.ucf.edu/wp-content/blogs.dir/16/files/2018/05/ms-da-Highlights-e1777063449665.jpg</a:t>
            </a:r>
          </a:p>
        </p:txBody>
      </p:sp>
      <p:sp>
        <p:nvSpPr>
          <p:cNvPr id="17" name="TextBox 16"/>
          <p:cNvSpPr txBox="1"/>
          <p:nvPr/>
        </p:nvSpPr>
        <p:spPr>
          <a:xfrm>
            <a:off x="1666875" y="3395662"/>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Source: </a:t>
            </a:r>
            <a:r>
              <a:rPr b="0" sz="1200" i="0" u="none">
                <a:solidFill>
                  <a:srgbClr val="4F46E5"/>
                </a:solidFill>
                <a:latin typeface="Inter"/>
              </a:rPr>
              <a:t>www.ucf.edu</a:t>
            </a:r>
          </a:p>
        </p:txBody>
      </p:sp>
      <p:pic>
        <p:nvPicPr>
          <p:cNvPr id="18" name="Picture 17" descr="image.png"/>
          <p:cNvPicPr>
            <a:picLocks noChangeAspect="1"/>
          </p:cNvPicPr>
          <p:nvPr/>
        </p:nvPicPr>
        <p:blipFill>
          <a:blip r:embed="rId5"/>
          <a:stretch>
            <a:fillRect/>
          </a:stretch>
        </p:blipFill>
        <p:spPr>
          <a:xfrm>
            <a:off x="571500" y="3941266"/>
            <a:ext cx="857250" cy="476250"/>
          </a:xfrm>
          <a:prstGeom prst="rect">
            <a:avLst/>
          </a:prstGeom>
        </p:spPr>
      </p:pic>
      <p:sp>
        <p:nvSpPr>
          <p:cNvPr id="19" name="TextBox 18"/>
          <p:cNvSpPr txBox="1"/>
          <p:nvPr/>
        </p:nvSpPr>
        <p:spPr>
          <a:xfrm>
            <a:off x="1666875" y="3934717"/>
            <a:ext cx="9953625" cy="198090"/>
          </a:xfrm>
          <a:prstGeom prst="rect">
            <a:avLst/>
          </a:prstGeom>
          <a:noFill/>
        </p:spPr>
        <p:txBody>
          <a:bodyPr wrap="square" lIns="0" rIns="0" tIns="0" bIns="0" anchor="t">
            <a:spAutoFit/>
          </a:bodyPr>
          <a:lstStyle/>
          <a:p>
            <a:pPr algn="l">
              <a:lnSpc>
                <a:spcPts val="1560"/>
              </a:lnSpc>
            </a:pPr>
            <a:r>
              <a:rPr b="0" sz="975" i="0" u="none">
                <a:solidFill>
                  <a:srgbClr val="334155"/>
                </a:solidFill>
                <a:latin typeface="Inter"/>
              </a:rPr>
              <a:t>https://intransition.openlibhums.org/article/id/16462/file/214758/</a:t>
            </a:r>
          </a:p>
        </p:txBody>
      </p:sp>
      <p:sp>
        <p:nvSpPr>
          <p:cNvPr id="20" name="TextBox 19"/>
          <p:cNvSpPr txBox="1"/>
          <p:nvPr/>
        </p:nvSpPr>
        <p:spPr>
          <a:xfrm>
            <a:off x="1666875" y="4180433"/>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Source: </a:t>
            </a:r>
            <a:r>
              <a:rPr b="0" sz="1200" i="0" u="none">
                <a:solidFill>
                  <a:srgbClr val="4F46E5"/>
                </a:solidFill>
                <a:latin typeface="Inter"/>
              </a:rPr>
              <a:t>intransition.openlibhums.org</a:t>
            </a:r>
          </a:p>
        </p:txBody>
      </p:sp>
      <p:pic>
        <p:nvPicPr>
          <p:cNvPr id="21" name="Picture 20" descr="image.png"/>
          <p:cNvPicPr>
            <a:picLocks noChangeAspect="1"/>
          </p:cNvPicPr>
          <p:nvPr/>
        </p:nvPicPr>
        <p:blipFill>
          <a:blip r:embed="rId6"/>
          <a:stretch>
            <a:fillRect/>
          </a:stretch>
        </p:blipFill>
        <p:spPr>
          <a:xfrm>
            <a:off x="571500" y="4825156"/>
            <a:ext cx="857250" cy="476250"/>
          </a:xfrm>
          <a:prstGeom prst="rect">
            <a:avLst/>
          </a:prstGeom>
        </p:spPr>
      </p:pic>
      <p:sp>
        <p:nvSpPr>
          <p:cNvPr id="22" name="TextBox 21"/>
          <p:cNvSpPr txBox="1"/>
          <p:nvPr/>
        </p:nvSpPr>
        <p:spPr>
          <a:xfrm>
            <a:off x="1666875" y="4719488"/>
            <a:ext cx="9953625" cy="396180"/>
          </a:xfrm>
          <a:prstGeom prst="rect">
            <a:avLst/>
          </a:prstGeom>
          <a:noFill/>
        </p:spPr>
        <p:txBody>
          <a:bodyPr wrap="square" lIns="0" rIns="0" tIns="0" bIns="0" anchor="t">
            <a:spAutoFit/>
          </a:bodyPr>
          <a:lstStyle/>
          <a:p>
            <a:pPr algn="l">
              <a:lnSpc>
                <a:spcPts val="1560"/>
              </a:lnSpc>
            </a:pPr>
            <a:r>
              <a:rPr b="0" sz="975" i="0" u="none">
                <a:solidFill>
                  <a:srgbClr val="334155"/>
                </a:solidFill>
                <a:latin typeface="Inter"/>
              </a:rPr>
              <a:t>https://machinelearningmastery.com/wp-content/uploads/2018/12/Example-of-Train-and-Validation-Learning-Curves-Showing-a-Training-Dataset-the-May-be-too-Small-Relative-to-the-Validation-Dataset.png</a:t>
            </a:r>
          </a:p>
        </p:txBody>
      </p:sp>
      <p:sp>
        <p:nvSpPr>
          <p:cNvPr id="23" name="TextBox 22"/>
          <p:cNvSpPr txBox="1"/>
          <p:nvPr/>
        </p:nvSpPr>
        <p:spPr>
          <a:xfrm>
            <a:off x="1666875" y="5163294"/>
            <a:ext cx="9953625" cy="243780"/>
          </a:xfrm>
          <a:prstGeom prst="rect">
            <a:avLst/>
          </a:prstGeom>
          <a:noFill/>
        </p:spPr>
        <p:txBody>
          <a:bodyPr wrap="square" lIns="0" rIns="0" tIns="0" bIns="0" anchor="t">
            <a:spAutoFit/>
          </a:bodyPr>
          <a:lstStyle/>
          <a:p>
            <a:pPr algn="l">
              <a:lnSpc>
                <a:spcPts val="1920"/>
              </a:lnSpc>
            </a:pPr>
            <a:r>
              <a:rPr b="0" sz="1200" i="0" u="none">
                <a:solidFill>
                  <a:srgbClr val="334155"/>
                </a:solidFill>
                <a:latin typeface="Inter"/>
              </a:rPr>
              <a:t>Source: </a:t>
            </a:r>
            <a:r>
              <a:rPr b="0" sz="1200" i="0" u="none">
                <a:solidFill>
                  <a:srgbClr val="4F46E5"/>
                </a:solidFill>
                <a:latin typeface="Inter"/>
              </a:rPr>
              <a:t>machinelearningmastery.com</a:t>
            </a:r>
          </a:p>
        </p:txBody>
      </p:sp>
      <p:sp>
        <p:nvSpPr>
          <p:cNvPr id="24" name="TextBox 23"/>
          <p:cNvSpPr txBox="1"/>
          <p:nvPr/>
        </p:nvSpPr>
        <p:spPr>
          <a:xfrm>
            <a:off x="571500" y="571500"/>
            <a:ext cx="11601450" cy="438150"/>
          </a:xfrm>
          <a:prstGeom prst="rect">
            <a:avLst/>
          </a:prstGeom>
          <a:noFill/>
        </p:spPr>
        <p:txBody>
          <a:bodyPr wrap="square" lIns="0" rIns="0" tIns="0" bIns="0" anchor="t">
            <a:spAutoFit/>
          </a:bodyPr>
          <a:lstStyle/>
          <a:p>
            <a:pPr algn="l"/>
            <a:r>
              <a:rPr b="0" sz="2700" i="0" u="none">
                <a:solidFill>
                  <a:srgbClr val="1E293B"/>
                </a:solidFill>
                <a:latin typeface="Montserrat SemiBold"/>
              </a:rPr>
              <a:t>Image Sources</a:t>
            </a:r>
          </a:p>
        </p:txBody>
      </p:sp>
      <p:sp>
        <p:nvSpPr>
          <p:cNvPr id="25" name="Rectangle 24"/>
          <p:cNvSpPr/>
          <p:nvPr/>
        </p:nvSpPr>
        <p:spPr>
          <a:xfrm>
            <a:off x="571500" y="1085850"/>
            <a:ext cx="11049000" cy="1905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